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3" autoAdjust="0"/>
    <p:restoredTop sz="86697" autoAdjust="0"/>
  </p:normalViewPr>
  <p:slideViewPr>
    <p:cSldViewPr snapToGrid="0" snapToObjects="1">
      <p:cViewPr varScale="1">
        <p:scale>
          <a:sx n="68" d="100"/>
          <a:sy n="68" d="100"/>
        </p:scale>
        <p:origin x="42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6344B-C0EF-4530-9BF6-D6F784C1035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399A4D-FE88-43C6-9A79-F3950580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dirty="0"/>
              <a:t>0:00-0:20</a:t>
            </a:r>
            <a:endParaRPr lang="en-US" b="0" dirty="0">
              <a:effectLst/>
            </a:endParaRPr>
          </a:p>
          <a:p>
            <a:r>
              <a:rPr dirty="0"/>
              <a:t>Hi, my name is Oksana, and today I will briefly present my solution for the TaskFlow case.</a:t>
            </a:r>
          </a:p>
          <a:p>
            <a:r>
              <a:rPr dirty="0"/>
              <a:t>I will explain the main reason behind </a:t>
            </a:r>
            <a:r>
              <a:rPr dirty="0" err="1"/>
              <a:t>TaskFlow's</a:t>
            </a:r>
            <a:r>
              <a:rPr dirty="0"/>
              <a:t> decline, the market and competitor context, and the strategy I would recommend for the next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399A4D-FE88-43C6-9A79-F3950580EC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49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0:20-0:40</a:t>
            </a:r>
          </a:p>
          <a:p>
            <a:r>
              <a:t>TaskFlow's problem is not a shrinking market.</a:t>
            </a:r>
          </a:p>
          <a:p>
            <a:r>
              <a:t>The main issue is weakening product-market fit, together with lower retention, higher churn, and weaker differentiation.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0:40-1:00</a:t>
            </a:r>
          </a:p>
          <a:p>
            <a:r>
              <a:t>In 2025, all core business metrics declined.</a:t>
            </a:r>
          </a:p>
          <a:p>
            <a:r>
              <a:t>Downloads, monthly active users, and monthly recurring revenue fell, while cost per install increased, so the product is shrinking and growth is getting more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1:00-1:20</a:t>
            </a:r>
          </a:p>
          <a:p>
            <a:r>
              <a:t>I diagnose this primarily as a product and positioning problem.</a:t>
            </a:r>
          </a:p>
          <a:p>
            <a:r>
              <a:t>The strongest evidence is retention decline, lower ratings, weak product freshness, and clearer competitor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1:20-1:45</a:t>
            </a:r>
          </a:p>
          <a:p>
            <a:r>
              <a:t>This slide shows why paid acquisition is not the answer right now.</a:t>
            </a:r>
          </a:p>
          <a:p>
            <a:r>
              <a:t>Customer acquisition cost is now almost equal to lifetime value, so the company should improve product value before scaling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1:45-2:05</a:t>
            </a:r>
          </a:p>
          <a:p>
            <a:r>
              <a:rPr dirty="0"/>
              <a:t>The market is still attractive, so I would not recommend leaving productivity.</a:t>
            </a:r>
          </a:p>
          <a:p>
            <a:r>
              <a:rPr dirty="0"/>
              <a:t>However, TaskFlow needs a sharper niche, and the strongest fit is calendar-first planning for young professionals, freelancers, and 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2:05-2:25</a:t>
            </a:r>
          </a:p>
          <a:p>
            <a:r>
              <a:rPr dirty="0"/>
              <a:t>Here I compare TaskFlow with </a:t>
            </a:r>
            <a:r>
              <a:rPr dirty="0" err="1"/>
              <a:t>Todoist</a:t>
            </a:r>
            <a:r>
              <a:rPr dirty="0"/>
              <a:t>, </a:t>
            </a:r>
            <a:r>
              <a:rPr dirty="0" err="1"/>
              <a:t>TickTick</a:t>
            </a:r>
            <a:r>
              <a:rPr dirty="0"/>
              <a:t>, Any.do, and Microsoft To Do.</a:t>
            </a:r>
          </a:p>
          <a:p>
            <a:r>
              <a:rPr dirty="0"/>
              <a:t>The benchmark shows that competitors are stronger in collaboration, product maturity, and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2:25-2:45</a:t>
            </a:r>
          </a:p>
          <a:p>
            <a:r>
              <a:rPr dirty="0"/>
              <a:t>TaskFlow should not try to out-feature everyone.</a:t>
            </a:r>
          </a:p>
          <a:p>
            <a:r>
              <a:rPr dirty="0"/>
              <a:t>Instead, it should focus on a narrower and cleaner use case where it can realistically compete.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2:45-3:10</a:t>
            </a:r>
          </a:p>
          <a:p>
            <a:r>
              <a:t>I considered three options: a focused turnaround, an AI-first pivot, and growth expansion into lower-cost segments.</a:t>
            </a:r>
          </a:p>
          <a:p>
            <a:r>
              <a:t>The first option is the most realistic and highest-probability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3:10-3:35</a:t>
            </a:r>
          </a:p>
          <a:p>
            <a:r>
              <a:rPr dirty="0"/>
              <a:t>My recommendation is a turnaround strategy, not a full pivot.</a:t>
            </a:r>
          </a:p>
          <a:p>
            <a:r>
              <a:rPr dirty="0"/>
              <a:t>TaskFlow should reposition itself as a calendar-first planner and improve its core workflow, collaboration, packaging, and growth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3:35-3:55</a:t>
            </a:r>
          </a:p>
          <a:p>
            <a:r>
              <a:t>The roadmap starts with stabilization, then differentiation, then selective AI features, and only after that scaling.</a:t>
            </a:r>
          </a:p>
          <a:p>
            <a:r>
              <a:t>The sequence matters because retention must improve before growth spend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3:55-4:15</a:t>
            </a:r>
          </a:p>
          <a:p>
            <a:r>
              <a:t>Success should be measured not only by top-of-funnel growth, but by stronger product value.</a:t>
            </a:r>
          </a:p>
          <a:p>
            <a:r>
              <a:t>My target metrics are better retention, lower churn, higher organic share, and monthly recurring revenue recovery over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4:15-4:30</a:t>
            </a:r>
          </a:p>
          <a:p>
            <a:r>
              <a:t>I also included the main execution risks, including team bandwidth, competitive pressure, AI risk, runway pressure, and distraction from low-value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4:30-4:50</a:t>
            </a:r>
          </a:p>
          <a:p>
            <a:r>
              <a:rPr dirty="0"/>
              <a:t>So overall, my conclusion is simple:</a:t>
            </a:r>
          </a:p>
          <a:p>
            <a:r>
              <a:rPr dirty="0"/>
              <a:t>TaskFlow should stay in the productivity category, avoid a risky full pivot for now, and focus on restoring product value, sharper positioning, and more efficient growth.</a:t>
            </a:r>
          </a:p>
          <a:p>
            <a:endParaRPr dirty="0"/>
          </a:p>
          <a:p>
            <a:r>
              <a:rPr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www.loom.com/share/ec723b4fa73542679c644feae340f941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mordorintelligence.com/industry-reports/task-management-software-market" TargetMode="External"/><Relationship Id="rId4" Type="http://schemas.openxmlformats.org/officeDocument/2006/relationships/hyperlink" Target="https://techcrunch.com/2026/01/21/consumers-spent-more-on-mobile-apps-than-games-in-2025-driven-by-ai-app-adoption/" TargetMode="External"/><Relationship Id="rId5" Type="http://schemas.openxmlformats.org/officeDocument/2006/relationships/hyperlink" Target="https://www.todoist.com/templates/getting-things-done" TargetMode="External"/><Relationship Id="rId6" Type="http://schemas.openxmlformats.org/officeDocument/2006/relationships/hyperlink" Target="https://www.todoist.com/help/articles/todoist-pricing-and-plans-update-2025-everything-you-need-to-know-Tn6Pg1JKI" TargetMode="External"/><Relationship Id="rId7" Type="http://schemas.openxmlformats.org/officeDocument/2006/relationships/hyperlink" Target="https://ticktick.com/upgrade" TargetMode="External"/><Relationship Id="rId8" Type="http://schemas.openxmlformats.org/officeDocument/2006/relationships/hyperlink" Target="https://ticktick.com/ambassador_program" TargetMode="External"/><Relationship Id="rId9" Type="http://schemas.openxmlformats.org/officeDocument/2006/relationships/hyperlink" Target="https://www.any.do/pricing" TargetMode="External"/><Relationship Id="rId10" Type="http://schemas.openxmlformats.org/officeDocument/2006/relationships/hyperlink" Target="https://support.microsoft.com/en-us/office/using-microsoft-to-do-with-outlook-tasks-c7a0253d-b8cc-4054-b94b-c194e0e5308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dex-bg-3"/>
          <p:cNvSpPr/>
          <p:nvPr/>
        </p:nvSpPr>
        <p:spPr>
          <a:xfrm>
            <a:off x="10195560" y="4526280"/>
            <a:ext cx="1920240" cy="1325880"/>
          </a:xfrm>
          <a:prstGeom prst="ellipse">
            <a:avLst/>
          </a:prstGeom>
          <a:solidFill>
            <a:srgbClr val="E8E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odex-bg-2"/>
          <p:cNvSpPr/>
          <p:nvPr/>
        </p:nvSpPr>
        <p:spPr>
          <a:xfrm>
            <a:off x="9281160" y="-548640"/>
            <a:ext cx="3886200" cy="2514600"/>
          </a:xfrm>
          <a:prstGeom prst="ellipse">
            <a:avLst/>
          </a:prstGeom>
          <a:solidFill>
            <a:srgbClr val="DCE6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odex-bg-1"/>
          <p:cNvSpPr/>
          <p:nvPr/>
        </p:nvSpPr>
        <p:spPr>
          <a:xfrm>
            <a:off x="-868680" y="4754880"/>
            <a:ext cx="4206240" cy="2743200"/>
          </a:xfrm>
          <a:prstGeom prst="ellipse">
            <a:avLst/>
          </a:prstGeom>
          <a:solidFill>
            <a:srgbClr val="F0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243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 sz="2800" b="1">
                <a:solidFill>
                  <a:srgbClr val="1F2937"/>
                </a:solidFill>
                <a:latin typeface="Georgia"/>
              </a:rPr>
              <a:t>TaskFlow doesn't need more traffic.</a:t>
            </a:r>
            <a:endParaRPr lang="en-US" sz="3600" b="1" dirty="0"/>
          </a:p>
          <a:p>
            <a:r>
              <a:rPr sz="2800" b="1">
                <a:solidFill>
                  <a:srgbClr val="1F2937"/>
                </a:solidFill>
                <a:latin typeface="Georgia"/>
              </a:rPr>
              <a:t>It needs its value 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rPr sz="1300">
                <a:solidFill>
                  <a:srgbClr val="667085"/>
                </a:solidFill>
                <a:latin typeface="Aptos"/>
              </a:rPr>
              <a:t>A stricter, more operator-style turnaround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dirty="0">
                <a:solidFill>
                  <a:srgbClr val="1F2937"/>
                </a:solidFill>
                <a:latin typeface="Aptos"/>
              </a:rPr>
              <a:t>My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 sz="1500" b="1" dirty="0">
                <a:solidFill>
                  <a:srgbClr val="1F2937"/>
                </a:solidFill>
                <a:latin typeface="Aptos"/>
              </a:rPr>
              <a:t>Fix the leak first.</a:t>
            </a:r>
          </a:p>
          <a:p>
            <a:r>
              <a:rPr sz="1500" b="1" dirty="0">
                <a:solidFill>
                  <a:srgbClr val="1F2937"/>
                </a:solidFill>
                <a:latin typeface="Aptos"/>
              </a:rPr>
              <a:t>Then earn the right to scale.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F2937"/>
                </a:solidFill>
                <a:latin typeface="Aptos"/>
                <a:hlinkClick r:id="rId3"/>
              </a:rPr>
              <a:t>https://www.loom.com/share/ec723b4fa73542679c644feae340f941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44319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rPr dirty="0">
                <a:solidFill>
                  <a:schemeClr val="bg1"/>
                </a:solidFill>
                <a:latin typeface="Aptos"/>
              </a:rP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597087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rPr dirty="0">
                <a:solidFill>
                  <a:schemeClr val="bg1"/>
                </a:solidFill>
                <a:latin typeface="Aptos"/>
              </a:rP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18186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 sz="1200" dirty="0">
                <a:solidFill>
                  <a:srgbClr val="FFFDF9"/>
                </a:solidFill>
                <a:latin typeface="Aptos"/>
              </a:rPr>
              <a:t>Included: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designed deck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PDF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calculations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source 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rPr sz="1500" b="1" i="1">
                <a:solidFill>
                  <a:srgbClr val="FFFDF9"/>
                </a:solidFill>
                <a:latin typeface="Georgia"/>
              </a:rPr>
              <a:t>My operating rule:</a:t>
            </a:r>
          </a:p>
          <a:p>
            <a:pPr algn="ctr"/>
            <a:r>
              <a:rPr sz="1500" b="1" i="1">
                <a:solidFill>
                  <a:srgbClr val="FFFDF9"/>
                </a:solidFill>
                <a:latin typeface="Georgia"/>
              </a:rPr>
              <a:t>no extra spend before the numbers move.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12484" y="5808797"/>
            <a:ext cx="2011680" cy="640080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75704" y="5918525"/>
            <a:ext cx="18653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rPr dirty="0"/>
              <a:t>This is the sentence I would defend in the room.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dex-bg-3"/>
          <p:cNvSpPr/>
          <p:nvPr/>
        </p:nvSpPr>
        <p:spPr>
          <a:xfrm>
            <a:off x="502920" y="5440680"/>
            <a:ext cx="2011680" cy="1234440"/>
          </a:xfrm>
          <a:prstGeom prst="ellipse">
            <a:avLst/>
          </a:prstGeom>
          <a:solidFill>
            <a:srgbClr val="E7D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odex-bg-2"/>
          <p:cNvSpPr/>
          <p:nvPr/>
        </p:nvSpPr>
        <p:spPr>
          <a:xfrm>
            <a:off x="9006840" y="4434840"/>
            <a:ext cx="4114800" cy="2697480"/>
          </a:xfrm>
          <a:prstGeom prst="ellipse">
            <a:avLst/>
          </a:prstGeom>
          <a:solidFill>
            <a:srgbClr val="D7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odex-bg-1"/>
          <p:cNvSpPr/>
          <p:nvPr/>
        </p:nvSpPr>
        <p:spPr>
          <a:xfrm>
            <a:off x="-1051560" y="-777240"/>
            <a:ext cx="3840480" cy="2606040"/>
          </a:xfrm>
          <a:prstGeom prst="ellipse">
            <a:avLst/>
          </a:prstGeom>
          <a:solidFill>
            <a:srgbClr val="EE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 dirty="0">
                <a:solidFill>
                  <a:srgbClr val="1F2937"/>
                </a:solidFill>
                <a:latin typeface="Georgia"/>
              </a:rPr>
              <a:t>Start here: the category is fine.</a:t>
            </a:r>
          </a:p>
          <a:p>
            <a:r>
              <a:rPr sz="2500" b="1" dirty="0">
                <a:solidFill>
                  <a:srgbClr val="1F2937"/>
                </a:solidFill>
                <a:latin typeface="Georgia"/>
              </a:rPr>
              <a:t>The product is not.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3" y="1147572"/>
            <a:ext cx="952484" cy="77724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841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rPr sz="1200" dirty="0">
                <a:solidFill>
                  <a:srgbClr val="667085"/>
                </a:solidFill>
                <a:latin typeface="Aptos"/>
              </a:rPr>
              <a:t>If I had to summarize the case in one line: </a:t>
            </a:r>
            <a:r>
              <a:rPr sz="1200" dirty="0" err="1">
                <a:solidFill>
                  <a:srgbClr val="667085"/>
                </a:solidFill>
                <a:latin typeface="Aptos"/>
              </a:rPr>
              <a:t>TaskFlow</a:t>
            </a:r>
            <a:r>
              <a:rPr sz="1200" dirty="0">
                <a:solidFill>
                  <a:srgbClr val="667085"/>
                </a:solidFill>
                <a:latin typeface="Aptos"/>
              </a:rPr>
              <a:t> stopped earning repeat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Retention is the clearest signal: D30 fell from 12% to 5%, D90 from 6.5% to 2.3%, and paid churn rose to 18%.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it broke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product feels stale: no major release in 8 months, worse ratings, weak collaboration, no offline mode, repetitive 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this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Downloads and MAU fell 42%, CPI rose 44%, and burn is still about $150k a month against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My management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 not fund a full pivot yet. Narrow the promise, fix first-session value, and scale only after the core numbers move.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rPr sz="1300" b="1">
                <a:solidFill>
                  <a:srgbClr val="1F2937"/>
                </a:solidFill>
                <a:latin typeface="Aptos"/>
              </a:rPr>
              <a:t>Clearer promise. Better first-session value. Less paid dependence until retention recovers.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4983480"/>
            <a:ext cx="2286000" cy="731520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51392" y="4983480"/>
            <a:ext cx="228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rPr lang="en-US" sz="1100" dirty="0"/>
              <a:t>The real question is not “What else can we add?”</a:t>
            </a:r>
            <a:br>
              <a:rPr lang="en-US" sz="1100" i="1" dirty="0"/>
            </a:br>
            <a:r>
              <a:rPr lang="en-US" sz="1100" dirty="0"/>
              <a:t>It is “Why would users come back tomorrow?”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dex-bg-3"/>
          <p:cNvSpPr/>
          <p:nvPr/>
        </p:nvSpPr>
        <p:spPr>
          <a:xfrm>
            <a:off x="10195560" y="4526280"/>
            <a:ext cx="1920240" cy="1325880"/>
          </a:xfrm>
          <a:prstGeom prst="ellipse">
            <a:avLst/>
          </a:prstGeom>
          <a:solidFill>
            <a:srgbClr val="E8E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odex-bg-2"/>
          <p:cNvSpPr/>
          <p:nvPr/>
        </p:nvSpPr>
        <p:spPr>
          <a:xfrm>
            <a:off x="9281160" y="-548640"/>
            <a:ext cx="3886200" cy="2514600"/>
          </a:xfrm>
          <a:prstGeom prst="ellipse">
            <a:avLst/>
          </a:prstGeom>
          <a:solidFill>
            <a:srgbClr val="DCE6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dex-bg-1"/>
          <p:cNvSpPr/>
          <p:nvPr/>
        </p:nvSpPr>
        <p:spPr>
          <a:xfrm>
            <a:off x="-868680" y="4754880"/>
            <a:ext cx="4206240" cy="2743200"/>
          </a:xfrm>
          <a:prstGeom prst="ellipse">
            <a:avLst/>
          </a:prstGeom>
          <a:solidFill>
            <a:srgbClr val="F0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The whole model bent in the same direction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dex-bg-3"/>
          <p:cNvSpPr/>
          <p:nvPr/>
        </p:nvSpPr>
        <p:spPr>
          <a:xfrm>
            <a:off x="502920" y="5440680"/>
            <a:ext cx="2011680" cy="1234440"/>
          </a:xfrm>
          <a:prstGeom prst="ellipse">
            <a:avLst/>
          </a:prstGeom>
          <a:solidFill>
            <a:srgbClr val="E7D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odex-bg-2"/>
          <p:cNvSpPr/>
          <p:nvPr/>
        </p:nvSpPr>
        <p:spPr>
          <a:xfrm>
            <a:off x="9006840" y="4434840"/>
            <a:ext cx="4114800" cy="2697480"/>
          </a:xfrm>
          <a:prstGeom prst="ellipse">
            <a:avLst/>
          </a:prstGeom>
          <a:solidFill>
            <a:srgbClr val="D7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odex-bg-1"/>
          <p:cNvSpPr/>
          <p:nvPr/>
        </p:nvSpPr>
        <p:spPr>
          <a:xfrm>
            <a:off x="-1051560" y="-777240"/>
            <a:ext cx="3840480" cy="2606040"/>
          </a:xfrm>
          <a:prstGeom prst="ellipse">
            <a:avLst/>
          </a:prstGeom>
          <a:solidFill>
            <a:srgbClr val="EE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The leak starts after install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Every cohort got weaker. D30 fell 58% and D90 fell 65% vs Q1 2024. That is what a value leak looks like.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2. The product stopped feeling 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Ratings fell from 4.6 to 4.2. Complaints repeat the same basics: weak collaboration, no offline mode, repetitive 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3. Paid growth became a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81% of installs are paid, and 62% come from Meta. That is too much dependence for a product with weakening retention.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4. Cheap volume will not save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Other markets are 29% of MAU but only 10% of revenue. Cheaper installs there do not repair the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5257800"/>
            <a:ext cx="2194560" cy="658368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51392" y="5312664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This is why I did not blame the market first.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dex-bg-3"/>
          <p:cNvSpPr/>
          <p:nvPr/>
        </p:nvSpPr>
        <p:spPr>
          <a:xfrm>
            <a:off x="10195560" y="4526280"/>
            <a:ext cx="1920240" cy="1325880"/>
          </a:xfrm>
          <a:prstGeom prst="ellipse">
            <a:avLst/>
          </a:prstGeom>
          <a:solidFill>
            <a:srgbClr val="E8E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odex-bg-2"/>
          <p:cNvSpPr/>
          <p:nvPr/>
        </p:nvSpPr>
        <p:spPr>
          <a:xfrm>
            <a:off x="9281160" y="-548640"/>
            <a:ext cx="3886200" cy="2514600"/>
          </a:xfrm>
          <a:prstGeom prst="ellipse">
            <a:avLst/>
          </a:prstGeom>
          <a:solidFill>
            <a:srgbClr val="DCE6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odex-bg-1"/>
          <p:cNvSpPr/>
          <p:nvPr/>
        </p:nvSpPr>
        <p:spPr>
          <a:xfrm>
            <a:off x="-868680" y="4754880"/>
            <a:ext cx="4206240" cy="2743200"/>
          </a:xfrm>
          <a:prstGeom prst="ellipse">
            <a:avLst/>
          </a:prstGeom>
          <a:solidFill>
            <a:srgbClr val="F0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This is why buying more installs now is a trap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4626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6101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So what I would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 today's conversion and churn, a newly acquired payer barely covers expected subscription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Operator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Cap weak paid social. Shift energy into activation, retention, ASO and content until the model improves.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294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>
                <a:solidFill>
                  <a:srgbClr val="1F2937"/>
                </a:solidFill>
                <a:latin typeface="Aptos"/>
              </a:rPr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5349240"/>
            <a:ext cx="2560320" cy="658368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9872" y="5404104"/>
            <a:ext cx="2414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Buying more traffic now mostly buys churn.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dex-bg-3"/>
          <p:cNvSpPr/>
          <p:nvPr/>
        </p:nvSpPr>
        <p:spPr>
          <a:xfrm>
            <a:off x="502920" y="5440680"/>
            <a:ext cx="2011680" cy="1234440"/>
          </a:xfrm>
          <a:prstGeom prst="ellipse">
            <a:avLst/>
          </a:prstGeom>
          <a:solidFill>
            <a:srgbClr val="E7D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odex-bg-2"/>
          <p:cNvSpPr/>
          <p:nvPr/>
        </p:nvSpPr>
        <p:spPr>
          <a:xfrm>
            <a:off x="9006840" y="4434840"/>
            <a:ext cx="4114800" cy="2697480"/>
          </a:xfrm>
          <a:prstGeom prst="ellipse">
            <a:avLst/>
          </a:prstGeom>
          <a:solidFill>
            <a:srgbClr val="D7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odex-bg-1"/>
          <p:cNvSpPr/>
          <p:nvPr/>
        </p:nvSpPr>
        <p:spPr>
          <a:xfrm>
            <a:off x="-1051560" y="-777240"/>
            <a:ext cx="3840480" cy="2606040"/>
          </a:xfrm>
          <a:prstGeom prst="ellipse">
            <a:avLst/>
          </a:prstGeom>
          <a:solidFill>
            <a:srgbClr val="EE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Where I still see upside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Demand still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 management is still growing. The question is not whether demand exists, but where TaskFlow can still win.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The best growth pocket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 narrower calendar-first planning use case fits the product better than generic to-do positioning.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Where I would focus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US, UK, Canada and Australia already drive most revenue. I would fix the product there before chasing cheaper installs elsewhere.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dex-bg-3"/>
          <p:cNvSpPr/>
          <p:nvPr/>
        </p:nvSpPr>
        <p:spPr>
          <a:xfrm>
            <a:off x="10195560" y="4526280"/>
            <a:ext cx="1920240" cy="1325880"/>
          </a:xfrm>
          <a:prstGeom prst="ellipse">
            <a:avLst/>
          </a:prstGeom>
          <a:solidFill>
            <a:srgbClr val="E8E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dex-bg-2"/>
          <p:cNvSpPr/>
          <p:nvPr/>
        </p:nvSpPr>
        <p:spPr>
          <a:xfrm>
            <a:off x="9281160" y="-548640"/>
            <a:ext cx="3886200" cy="2514600"/>
          </a:xfrm>
          <a:prstGeom prst="ellipse">
            <a:avLst/>
          </a:prstGeom>
          <a:solidFill>
            <a:srgbClr val="DCE6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odex-bg-1"/>
          <p:cNvSpPr/>
          <p:nvPr/>
        </p:nvSpPr>
        <p:spPr>
          <a:xfrm>
            <a:off x="-868680" y="4754880"/>
            <a:ext cx="4206240" cy="2743200"/>
          </a:xfrm>
          <a:prstGeom prst="ellipse">
            <a:avLst/>
          </a:prstGeom>
          <a:solidFill>
            <a:srgbClr val="F0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What stronger players do differently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CF4EE"/>
          </a:solidFill>
          <a:ln w="15240">
            <a:solidFill>
              <a:srgbClr val="D9C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C46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04288"/>
            <a:ext cx="1837943" cy="3675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73243"/>
                </a:solidFill>
                <a:latin typeface="Aptos"/>
              </a:defRPr>
            </a:pPr>
            <a:r>
              <a:t>Broad promise, weak collaboration, no offline mode, and a product that feels less fresh than the category leaders.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FFFDFC"/>
          </a:solidFill>
          <a:ln w="15240">
            <a:solidFill>
              <a:srgbClr val="D8C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B8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2322576"/>
            <a:ext cx="3758184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73243"/>
                </a:solidFill>
                <a:latin typeface="Aptos"/>
              </a:defRPr>
            </a:pPr>
            <a:r>
              <a:t>Templates, integrations and content make it easier to discover and easier to start with a clear job to be done.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FCFCF8"/>
          </a:solidFill>
          <a:ln w="15240">
            <a:solidFill>
              <a:srgbClr val="D8D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788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2322576"/>
            <a:ext cx="3758184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73243"/>
                </a:solidFill>
                <a:latin typeface="Aptos"/>
              </a:defRPr>
            </a:pPr>
            <a:r>
              <a:t>Bundled value feels stronger: tasks, calendar, habits and focus tools under attractive annual pricing.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DFB"/>
          </a:solidFill>
          <a:ln w="15240">
            <a:solidFill>
              <a:srgbClr val="DC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C98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535424"/>
            <a:ext cx="375818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73243"/>
                </a:solidFill>
                <a:latin typeface="Aptos"/>
              </a:defRPr>
            </a:pPr>
            <a:r>
              <a:t>Shared planning is packaged more clearly through Family and Workspace flows, not generic collaboration language.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CFDFF"/>
          </a:solidFill>
          <a:ln w="15240">
            <a:solidFill>
              <a:srgbClr val="CE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6E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535424"/>
            <a:ext cx="375818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73243"/>
                </a:solidFill>
                <a:latin typeface="Aptos"/>
              </a:defRPr>
            </a:pPr>
            <a:r>
              <a:t>Distribution comes from the ecosystem itself through Outlook and Microsoft, not rebuilt every month in paid UA.</a:t>
            </a:r>
          </a:p>
        </p:txBody>
      </p:sp>
      <p:sp>
        <p:nvSpPr>
          <p:cNvPr id="36" name="codex-s7-lesson-band"/>
          <p:cNvSpPr/>
          <p:nvPr/>
        </p:nvSpPr>
        <p:spPr>
          <a:xfrm>
            <a:off x="658368" y="5916168"/>
            <a:ext cx="10972800" cy="475488"/>
          </a:xfrm>
          <a:prstGeom prst="roundRect">
            <a:avLst/>
          </a:prstGeom>
          <a:solidFill>
            <a:srgbClr val="F4E8DE"/>
          </a:solidFill>
          <a:ln w="10160">
            <a:solidFill>
              <a:srgbClr val="E5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 sz="1600" b="1">
                <a:solidFill>
                  <a:srgbClr val="2F3441"/>
                </a:solidFill>
                <a:latin typeface="Aptos"/>
              </a:defRPr>
            </a:pPr>
            <a:r>
              <a:t>The gap is not just features. Stronger players are easier to trust, easier to discover, and easier to return to.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7783"/>
                </a:solidFill>
                <a:latin typeface="Aptos"/>
              </a:defRPr>
            </a:pPr>
            <a:r>
              <a:t>Sources: Case data for TaskFlow; Google Play public ratings/review counts; competitor official pages.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7</a:t>
            </a:r>
          </a:p>
        </p:txBody>
      </p:sp>
      <p:sp>
        <p:nvSpPr>
          <p:cNvPr id="30" name="codex-s7-metric-taskflow"/>
          <p:cNvSpPr txBox="1"/>
          <p:nvPr/>
        </p:nvSpPr>
        <p:spPr>
          <a:xfrm>
            <a:off x="786384" y="1975104"/>
            <a:ext cx="1847088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150" b="1">
                <a:solidFill>
                  <a:srgbClr val="C46A43"/>
                </a:solidFill>
                <a:latin typeface="Aptos"/>
              </a:defRPr>
            </a:pPr>
            <a:r>
              <a:t>4.2 rating | 105k MAU | 62% Meta mix</a:t>
            </a:r>
          </a:p>
        </p:txBody>
      </p:sp>
      <p:sp>
        <p:nvSpPr>
          <p:cNvPr id="31" name="codex-s7-metric-todoist"/>
          <p:cNvSpPr txBox="1"/>
          <p:nvPr/>
        </p:nvSpPr>
        <p:spPr>
          <a:xfrm>
            <a:off x="3072384" y="1965960"/>
            <a:ext cx="3758184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150" b="1">
                <a:solidFill>
                  <a:srgbClr val="B86A4A"/>
                </a:solidFill>
                <a:latin typeface="Aptos"/>
              </a:defRPr>
            </a:pPr>
            <a:r>
              <a:t>4.6 rating | 297k reviews | 10M+ downloads</a:t>
            </a:r>
          </a:p>
        </p:txBody>
      </p:sp>
      <p:sp>
        <p:nvSpPr>
          <p:cNvPr id="32" name="codex-s7-metric-ticktick"/>
          <p:cNvSpPr txBox="1"/>
          <p:nvPr/>
        </p:nvSpPr>
        <p:spPr>
          <a:xfrm>
            <a:off x="7278624" y="1965960"/>
            <a:ext cx="3758184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150" b="1">
                <a:solidFill>
                  <a:srgbClr val="788B63"/>
                </a:solidFill>
                <a:latin typeface="Aptos"/>
              </a:defRPr>
            </a:pPr>
            <a:r>
              <a:t>4.6 rating | 157k reviews | 5M+ downloads</a:t>
            </a:r>
          </a:p>
        </p:txBody>
      </p:sp>
      <p:sp>
        <p:nvSpPr>
          <p:cNvPr id="33" name="codex-s7-metric-anydo"/>
          <p:cNvSpPr txBox="1"/>
          <p:nvPr/>
        </p:nvSpPr>
        <p:spPr>
          <a:xfrm>
            <a:off x="3072384" y="4197096"/>
            <a:ext cx="3758184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150" b="1">
                <a:solidFill>
                  <a:srgbClr val="C98C54"/>
                </a:solidFill>
                <a:latin typeface="Aptos"/>
              </a:defRPr>
            </a:pPr>
            <a:r>
              <a:t>4.4 rating | 503k reviews | 10M+ downloads</a:t>
            </a:r>
          </a:p>
        </p:txBody>
      </p:sp>
      <p:sp>
        <p:nvSpPr>
          <p:cNvPr id="34" name="codex-s7-metric-ms"/>
          <p:cNvSpPr txBox="1"/>
          <p:nvPr/>
        </p:nvSpPr>
        <p:spPr>
          <a:xfrm>
            <a:off x="7278624" y="4197096"/>
            <a:ext cx="3758184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150" b="1">
                <a:solidFill>
                  <a:srgbClr val="6E88A8"/>
                </a:solidFill>
                <a:latin typeface="Aptos"/>
              </a:defRPr>
            </a:pPr>
            <a:r>
              <a:t>4.6 rating | 468k reviews | 10M+ downloads</a:t>
            </a:r>
          </a:p>
        </p:txBody>
      </p:sp>
      <p:sp>
        <p:nvSpPr>
          <p:cNvPr id="35" name="codex-s7-kicker"/>
          <p:cNvSpPr txBox="1"/>
          <p:nvPr/>
        </p:nvSpPr>
        <p:spPr>
          <a:xfrm>
            <a:off x="795528" y="1069848"/>
            <a:ext cx="3474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E6A56"/>
                </a:solidFill>
                <a:latin typeface="Aptos"/>
              </a:defRPr>
            </a:pPr>
            <a:r>
              <a:t>Public proof points, not just category reputation.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dex-bg-3"/>
          <p:cNvSpPr/>
          <p:nvPr/>
        </p:nvSpPr>
        <p:spPr>
          <a:xfrm>
            <a:off x="502920" y="5440680"/>
            <a:ext cx="2011680" cy="1234440"/>
          </a:xfrm>
          <a:prstGeom prst="ellipse">
            <a:avLst/>
          </a:prstGeom>
          <a:solidFill>
            <a:srgbClr val="E7D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odex-bg-2"/>
          <p:cNvSpPr/>
          <p:nvPr/>
        </p:nvSpPr>
        <p:spPr>
          <a:xfrm>
            <a:off x="9006840" y="4434840"/>
            <a:ext cx="4114800" cy="2697480"/>
          </a:xfrm>
          <a:prstGeom prst="ellipse">
            <a:avLst/>
          </a:prstGeom>
          <a:solidFill>
            <a:srgbClr val="D7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dex-bg-1"/>
          <p:cNvSpPr/>
          <p:nvPr/>
        </p:nvSpPr>
        <p:spPr>
          <a:xfrm>
            <a:off x="-1051560" y="-777240"/>
            <a:ext cx="3840480" cy="2606040"/>
          </a:xfrm>
          <a:prstGeom prst="ellipse">
            <a:avLst/>
          </a:prstGeom>
          <a:solidFill>
            <a:srgbClr val="EE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Where TaskFlow still has room to win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1. Faster first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Onboarding, templates and calendar setup can make the product useful in the first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2. Better micro-collaboration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opening is 2-5 person planning, not complex team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3. Less paid dependence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Competitors use templates, content, referrals and ecosystems. TaskFlow over-relies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4. Product freshness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Shipping visible basics matters. Reviews suggest users no longer trust the product to keep improving.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The opening I would 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TaskFlow should not try to out-feature everyone. The opening is a cleaner calendar-first planner for solo professionals, freelancers and very small shared workflows.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1976" y="4879549"/>
            <a:ext cx="2194560" cy="713232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34272" y="4978908"/>
            <a:ext cx="204825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This is narrow on purpose.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dex-bg-3"/>
          <p:cNvSpPr/>
          <p:nvPr/>
        </p:nvSpPr>
        <p:spPr>
          <a:xfrm>
            <a:off x="10195560" y="4526280"/>
            <a:ext cx="1920240" cy="1325880"/>
          </a:xfrm>
          <a:prstGeom prst="ellipse">
            <a:avLst/>
          </a:prstGeom>
          <a:solidFill>
            <a:srgbClr val="E8E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dex-bg-2"/>
          <p:cNvSpPr/>
          <p:nvPr/>
        </p:nvSpPr>
        <p:spPr>
          <a:xfrm>
            <a:off x="9281160" y="-548640"/>
            <a:ext cx="3886200" cy="2514600"/>
          </a:xfrm>
          <a:prstGeom prst="ellipse">
            <a:avLst/>
          </a:prstGeom>
          <a:solidFill>
            <a:srgbClr val="DCE6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odex-bg-1"/>
          <p:cNvSpPr/>
          <p:nvPr/>
        </p:nvSpPr>
        <p:spPr>
          <a:xfrm>
            <a:off x="-868680" y="4754880"/>
            <a:ext cx="4206240" cy="2743200"/>
          </a:xfrm>
          <a:prstGeom prst="ellipse">
            <a:avLst/>
          </a:prstGeom>
          <a:solidFill>
            <a:srgbClr val="F0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400" b="1">
                <a:solidFill>
                  <a:srgbClr val="1F2937"/>
                </a:solidFill>
                <a:latin typeface="Georgia"/>
              </a:rPr>
              <a:t>I considered 3 paths.</a:t>
            </a:r>
          </a:p>
          <a:p>
            <a:r>
              <a:rPr sz="2400" b="1">
                <a:solidFill>
                  <a:srgbClr val="1F2937"/>
                </a:solidFill>
                <a:latin typeface="Georgia"/>
              </a:rPr>
              <a:t>Only one earns the right to scale.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17230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A | Fix and narrow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say yes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Attacks the real leak, fits the current team, and can show progress inside 2-3 quarters.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>
              <a:solidFill>
                <a:srgbClr val="1F2937"/>
              </a:solidFill>
              <a:latin typeface="Aptos"/>
            </a:endParaR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Requires discipline to stay narrow.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B | Full AI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hesitate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Attractive theme, but it is a much bigger repositioning with higher product risk, stronger incumbents and extra cost.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>
              <a:solidFill>
                <a:srgbClr val="1F2937"/>
              </a:solidFill>
              <a:latin typeface="Aptos"/>
            </a:endParaR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Too much uncertainty for the current runway.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C | Chase cheaper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say no for now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It may improve install volume and headline CPI, but it does not solve retention and can weaken the revenue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>
              <a:solidFill>
                <a:srgbClr val="1F2937"/>
              </a:solidFill>
              <a:latin typeface="Aptos"/>
            </a:endParaR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Looks like growth without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My choice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sz="1200" b="1">
                <a:solidFill>
                  <a:srgbClr val="1F2937"/>
                </a:solidFill>
                <a:latin typeface="Aptos"/>
              </a:rPr>
              <a:t>Fix and narrow first. If the recovery stalls after Q3, reopen the pivot conversation from a stronger fact base.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codex-bg-3"/>
          <p:cNvSpPr/>
          <p:nvPr/>
        </p:nvSpPr>
        <p:spPr>
          <a:xfrm>
            <a:off x="502920" y="5440680"/>
            <a:ext cx="2011680" cy="1234440"/>
          </a:xfrm>
          <a:prstGeom prst="ellipse">
            <a:avLst/>
          </a:prstGeom>
          <a:solidFill>
            <a:srgbClr val="E7D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odex-bg-2"/>
          <p:cNvSpPr/>
          <p:nvPr/>
        </p:nvSpPr>
        <p:spPr>
          <a:xfrm>
            <a:off x="9006840" y="4434840"/>
            <a:ext cx="4114800" cy="2697480"/>
          </a:xfrm>
          <a:prstGeom prst="ellipse">
            <a:avLst/>
          </a:prstGeom>
          <a:solidFill>
            <a:srgbClr val="D7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odex-bg-1"/>
          <p:cNvSpPr/>
          <p:nvPr/>
        </p:nvSpPr>
        <p:spPr>
          <a:xfrm>
            <a:off x="-1051560" y="-777240"/>
            <a:ext cx="3840480" cy="2606040"/>
          </a:xfrm>
          <a:prstGeom prst="ellipse">
            <a:avLst/>
          </a:prstGeom>
          <a:solidFill>
            <a:srgbClr val="EE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If I joined the team on Monday morning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Rebuild the activation funnel.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Tighten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Improve onboarding by use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Pause weak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Rewrite the store listing and landing page.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Build templates and creator pilots.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Customer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Run churn interviews.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Tag support tickets by reason.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Add cancellation survey.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Track D7 and D30 by cohort.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Support / success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 lifecycle nudges for stuck trial users.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Build a self-serve help layer.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Turn support into a feedback loop, not only ticket handling.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Ops /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Freeze non-core work.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 weekly stop-loss rules on paid.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Limit the team to 3 core bets at a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102352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rPr sz="1200" b="1" i="1" dirty="0">
                <a:solidFill>
                  <a:srgbClr val="B65A34"/>
                </a:solidFill>
                <a:latin typeface="Georgia"/>
              </a:rPr>
              <a:t>This is a sequencing plan, not a </a:t>
            </a:r>
            <a:r>
              <a:rPr sz="1200" b="1" i="1" dirty="0" err="1">
                <a:solidFill>
                  <a:srgbClr val="B65A34"/>
                </a:solidFill>
                <a:latin typeface="Georgia"/>
              </a:rPr>
              <a:t>wishlist</a:t>
            </a:r>
            <a:r>
              <a:rPr sz="1200" b="1" i="1" dirty="0">
                <a:solidFill>
                  <a:srgbClr val="B65A34"/>
                </a:solidFill>
                <a:latin typeface="Georgia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2560320" cy="713232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112" y="5495544"/>
            <a:ext cx="241401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Same thesis, translated into owners.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dex-bg-3"/>
          <p:cNvSpPr/>
          <p:nvPr/>
        </p:nvSpPr>
        <p:spPr>
          <a:xfrm>
            <a:off x="10195560" y="4526280"/>
            <a:ext cx="1920240" cy="1325880"/>
          </a:xfrm>
          <a:prstGeom prst="ellipse">
            <a:avLst/>
          </a:prstGeom>
          <a:solidFill>
            <a:srgbClr val="E8E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odex-bg-2"/>
          <p:cNvSpPr/>
          <p:nvPr/>
        </p:nvSpPr>
        <p:spPr>
          <a:xfrm>
            <a:off x="9281160" y="-548640"/>
            <a:ext cx="3886200" cy="2514600"/>
          </a:xfrm>
          <a:prstGeom prst="ellipse">
            <a:avLst/>
          </a:prstGeom>
          <a:solidFill>
            <a:srgbClr val="DCE6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dex-bg-1"/>
          <p:cNvSpPr/>
          <p:nvPr/>
        </p:nvSpPr>
        <p:spPr>
          <a:xfrm>
            <a:off x="-868680" y="4754880"/>
            <a:ext cx="4206240" cy="2743200"/>
          </a:xfrm>
          <a:prstGeom prst="ellipse">
            <a:avLst/>
          </a:prstGeom>
          <a:solidFill>
            <a:srgbClr val="F0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Turnaround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Q2 2026 | Stop the bleed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Activation funnel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Store listing rewrite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Paid stop-loss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Q3 2026 | Prove the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Templates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Free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Weekly planning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Increase spend only on green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Referral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Wave-2 market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rPr sz="1150" b="1" i="1">
                <a:solidFill>
                  <a:srgbClr val="B65A34"/>
                </a:solidFill>
                <a:latin typeface="Georgia"/>
              </a:rPr>
              <a:t>My line in the sand: if D30 is still below 7% by the end of Q3, I would revisit a broader pivot.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codex-bg-3"/>
          <p:cNvSpPr/>
          <p:nvPr/>
        </p:nvSpPr>
        <p:spPr>
          <a:xfrm>
            <a:off x="502920" y="5440680"/>
            <a:ext cx="2011680" cy="1234440"/>
          </a:xfrm>
          <a:prstGeom prst="ellipse">
            <a:avLst/>
          </a:prstGeom>
          <a:solidFill>
            <a:srgbClr val="E7D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odex-bg-2"/>
          <p:cNvSpPr/>
          <p:nvPr/>
        </p:nvSpPr>
        <p:spPr>
          <a:xfrm>
            <a:off x="9006840" y="4434840"/>
            <a:ext cx="4114800" cy="2697480"/>
          </a:xfrm>
          <a:prstGeom prst="ellipse">
            <a:avLst/>
          </a:prstGeom>
          <a:solidFill>
            <a:srgbClr val="D7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odex-bg-1"/>
          <p:cNvSpPr/>
          <p:nvPr/>
        </p:nvSpPr>
        <p:spPr>
          <a:xfrm>
            <a:off x="-1051560" y="-777240"/>
            <a:ext cx="3840480" cy="2606040"/>
          </a:xfrm>
          <a:prstGeom prst="ellipse">
            <a:avLst/>
          </a:prstGeom>
          <a:solidFill>
            <a:srgbClr val="EE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Numbers I'd refuse to ignore before scaling again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8546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Why these gates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They force the team to prove product value before buying more top-of-funnel volume.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Economic rule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Paid LTV / CAC should move above about 1.3x before spend increases materially; healthy state is 1.5x or better.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Decision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All operating gates should clear for 2 consecutive months before paid budgets go back up.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thresholds built from current baselines and simplified unit economics.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12</a:t>
            </a:r>
          </a:p>
        </p:txBody>
      </p:sp>
      <p:pic>
        <p:nvPicPr>
          <p:cNvPr id="61" name="Picture 60" descr="threshold_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5897880" cy="2881829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7818120" y="5394960"/>
            <a:ext cx="2377440" cy="658368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91272" y="5449824"/>
            <a:ext cx="22311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No cleared gates = no extra spend.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dex-bg-3"/>
          <p:cNvSpPr/>
          <p:nvPr/>
        </p:nvSpPr>
        <p:spPr>
          <a:xfrm>
            <a:off x="10195560" y="4526280"/>
            <a:ext cx="1920240" cy="1325880"/>
          </a:xfrm>
          <a:prstGeom prst="ellipse">
            <a:avLst/>
          </a:prstGeom>
          <a:solidFill>
            <a:srgbClr val="E8E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odex-bg-2"/>
          <p:cNvSpPr/>
          <p:nvPr/>
        </p:nvSpPr>
        <p:spPr>
          <a:xfrm>
            <a:off x="9281160" y="-548640"/>
            <a:ext cx="3886200" cy="2514600"/>
          </a:xfrm>
          <a:prstGeom prst="ellipse">
            <a:avLst/>
          </a:prstGeom>
          <a:solidFill>
            <a:srgbClr val="DCE6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odex-bg-1"/>
          <p:cNvSpPr/>
          <p:nvPr/>
        </p:nvSpPr>
        <p:spPr>
          <a:xfrm>
            <a:off x="-868680" y="4754880"/>
            <a:ext cx="4206240" cy="2743200"/>
          </a:xfrm>
          <a:prstGeom prst="ellipse">
            <a:avLst/>
          </a:prstGeom>
          <a:solidFill>
            <a:srgbClr val="F0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400" b="1">
                <a:solidFill>
                  <a:srgbClr val="1F2937"/>
                </a:solidFill>
                <a:latin typeface="Georgia"/>
              </a:rPr>
              <a:t>What success should feel like,</a:t>
            </a:r>
          </a:p>
          <a:p>
            <a:r>
              <a:rPr sz="2400" b="1">
                <a:solidFill>
                  <a:srgbClr val="1F2937"/>
                </a:solidFill>
                <a:latin typeface="Georgia"/>
              </a:rPr>
              <a:t>not just look like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70432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User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D30 is back above 8%, ratings recover, and complaints about missing basics start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Growth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Organic share rises, paid dependence falls, and channel decisions get cleaner.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Revenue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Lower churn and better trial conversion lift MRR without forcing a risky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Team cadence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Product, growth and support work from the same weekly scorecard instead of chasing disconnected fixes.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8980" y="5248656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68980" y="5248656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5284" y="5358384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Strategic option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5284" y="5678424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sz="1100">
                <a:solidFill>
                  <a:srgbClr val="1F2937"/>
                </a:solidFill>
                <a:latin typeface="Aptos"/>
              </a:rPr>
              <a:t>Management can keep compounding the recovery or pivot later from a position of strength, not panic.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dex-bg-3"/>
          <p:cNvSpPr/>
          <p:nvPr/>
        </p:nvSpPr>
        <p:spPr>
          <a:xfrm>
            <a:off x="502920" y="5440680"/>
            <a:ext cx="2011680" cy="1234440"/>
          </a:xfrm>
          <a:prstGeom prst="ellipse">
            <a:avLst/>
          </a:prstGeom>
          <a:solidFill>
            <a:srgbClr val="E7D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odex-bg-2"/>
          <p:cNvSpPr/>
          <p:nvPr/>
        </p:nvSpPr>
        <p:spPr>
          <a:xfrm>
            <a:off x="9006840" y="4434840"/>
            <a:ext cx="4114800" cy="2697480"/>
          </a:xfrm>
          <a:prstGeom prst="ellipse">
            <a:avLst/>
          </a:prstGeom>
          <a:solidFill>
            <a:srgbClr val="D7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odex-bg-1"/>
          <p:cNvSpPr/>
          <p:nvPr/>
        </p:nvSpPr>
        <p:spPr>
          <a:xfrm>
            <a:off x="-1051560" y="-777240"/>
            <a:ext cx="3840480" cy="2606040"/>
          </a:xfrm>
          <a:prstGeom prst="ellipse">
            <a:avLst/>
          </a:prstGeom>
          <a:solidFill>
            <a:srgbClr val="EE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Selected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1F2937"/>
                </a:solidFill>
                <a:latin typeface="Aptos"/>
              </a:rPr>
              <a:t>1. Mordor Intelligence - task management market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2. TechCrunch on Sensor Tower State of Mobile 2026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3.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Todoist</a:t>
            </a:r>
            <a:r>
              <a:rPr sz="1600" dirty="0">
                <a:solidFill>
                  <a:srgbClr val="1F2937"/>
                </a:solidFill>
                <a:latin typeface="Aptos"/>
              </a:rPr>
              <a:t> template gallery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4.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Todoist</a:t>
            </a:r>
            <a:r>
              <a:rPr sz="1600" dirty="0">
                <a:solidFill>
                  <a:srgbClr val="1F2937"/>
                </a:solidFill>
                <a:latin typeface="Aptos"/>
              </a:rPr>
              <a:t> pricing update 2025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5.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TickTick</a:t>
            </a:r>
            <a:r>
              <a:rPr sz="1600" dirty="0">
                <a:solidFill>
                  <a:srgbClr val="1F2937"/>
                </a:solidFill>
                <a:latin typeface="Aptos"/>
              </a:rPr>
              <a:t> upgrade page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6.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TickTick</a:t>
            </a:r>
            <a:r>
              <a:rPr sz="1600" dirty="0">
                <a:solidFill>
                  <a:srgbClr val="1F2937"/>
                </a:solidFill>
                <a:latin typeface="Aptos"/>
              </a:rPr>
              <a:t> ambassador program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7. Any.do pricing and Spaces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8. Microsoft To Do with Outlook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F2937"/>
                </a:solidFill>
                <a:latin typeface="Aptos"/>
                <a:hlinkClick r:id="rId3"/>
              </a:rPr>
              <a:t>https://www.mordorintelligence.com/industry-reports/task-management-software-market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4"/>
              </a:rPr>
              <a:t>https://techcrunch.com/2026/01/21/consumers-spent-more-on-mobile-apps-than-games-in-2025-driven-by-ai-app-adoption/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5"/>
              </a:rPr>
              <a:t>https://www.todoist.com/templates/getting-things-done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6"/>
              </a:rPr>
              <a:t>https://www.todoist.com/help/articles/todoist-pricing-and-plans-update-2025-everything-you-need-to-know-Tn6Pg1JKI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7"/>
              </a:rPr>
              <a:t>https://ticktick.com/upgrade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8"/>
              </a:rPr>
              <a:t>https://ticktick.com/ambassador_program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9"/>
              </a:rPr>
              <a:t>https://www.any.do/pricing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10"/>
              </a:rPr>
              <a:t>https://support.microsoft.com/en-us/office/using-microsoft-to-do-with-outlook-tasks-c7a0253d-b8cc-4054-b94b-c194e0e5308a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88748" y="5833872"/>
            <a:ext cx="10927080" cy="859536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825728"/>
            <a:ext cx="82296" cy="648224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1674" y="5874527"/>
            <a:ext cx="2768084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 lang="en-US" sz="1250" b="1">
                <a:solidFill>
                  <a:srgbClr val="1F2937"/>
                </a:solidFill>
                <a:latin typeface="Aptos"/>
              </a:rPr>
              <a:t>Why these sources matter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786384" y="6168628"/>
            <a:ext cx="107076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lang="en-US" sz="1100" dirty="0">
                <a:solidFill>
                  <a:srgbClr val="1F2937"/>
                </a:solidFill>
                <a:latin typeface="Aptos"/>
              </a:rPr>
              <a:t>Together, they show that the market is still healthy, competitors are raising the bar, and </a:t>
            </a:r>
            <a:r>
              <a:rPr lang="en-US" sz="1100" dirty="0" err="1">
                <a:solidFill>
                  <a:srgbClr val="1F2937"/>
                </a:solidFill>
                <a:latin typeface="Aptos"/>
              </a:rPr>
              <a:t>TaskFlow’s</a:t>
            </a:r>
            <a:r>
              <a:rPr lang="en-US" sz="1100" dirty="0">
                <a:solidFill>
                  <a:srgbClr val="1F2937"/>
                </a:solidFill>
                <a:latin typeface="Aptos"/>
              </a:rPr>
              <a:t> problem is execution and positioning — not category decline.</a:t>
            </a:r>
            <a:endParaRPr sz="1100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41448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1F2937"/>
                </a:solidFill>
                <a:latin typeface="Aptos"/>
              </a:rPr>
              <a:t>Sources: Official market and competitor pages used in the revised deck.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2289</Words>
  <Application>Microsoft Office PowerPoint</Application>
  <PresentationFormat>Widescreen</PresentationFormat>
  <Paragraphs>277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17</cp:revision>
  <dcterms:created xsi:type="dcterms:W3CDTF">2013-01-27T09:14:16Z</dcterms:created>
  <dcterms:modified xsi:type="dcterms:W3CDTF">2026-04-08T17:06:09Z</dcterms:modified>
  <cp:category/>
</cp:coreProperties>
</file>