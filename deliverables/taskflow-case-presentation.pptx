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3" autoAdjust="0"/>
    <p:restoredTop sz="86697" autoAdjust="0"/>
  </p:normalViewPr>
  <p:slideViewPr>
    <p:cSldViewPr snapToGrid="0" snapToObjects="1">
      <p:cViewPr varScale="1">
        <p:scale>
          <a:sx n="68" d="100"/>
          <a:sy n="68" d="100"/>
        </p:scale>
        <p:origin x="424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A6344B-C0EF-4530-9BF6-D6F784C1035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399A4D-FE88-43C6-9A79-F3950580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dirty="0"/>
              <a:t>0:00-0:20</a:t>
            </a:r>
            <a:endParaRPr lang="en-US" b="0" dirty="0">
              <a:effectLst/>
            </a:endParaRPr>
          </a:p>
          <a:p>
            <a:r>
              <a:rPr dirty="0"/>
              <a:t>Hi, my name is Oksana, and today I will briefly present my solution for the TaskFlow case.</a:t>
            </a:r>
          </a:p>
          <a:p>
            <a:r>
              <a:rPr dirty="0"/>
              <a:t>I will explain the main reason behind </a:t>
            </a:r>
            <a:r>
              <a:rPr dirty="0" err="1"/>
              <a:t>TaskFlow's</a:t>
            </a:r>
            <a:r>
              <a:rPr dirty="0"/>
              <a:t> decline, the market and competitor context, and the strategy I would recommend for the next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399A4D-FE88-43C6-9A79-F3950580EC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49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0:20-0:40</a:t>
            </a:r>
          </a:p>
          <a:p>
            <a:r>
              <a:t>TaskFlow's problem is not a shrinking market.</a:t>
            </a:r>
          </a:p>
          <a:p>
            <a:r>
              <a:t>The main issue is weakening product-market fit, together with lower retention, higher churn, and weaker differentiation.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0:40-1:00</a:t>
            </a:r>
          </a:p>
          <a:p>
            <a:r>
              <a:t>In 2025, all core business metrics declined.</a:t>
            </a:r>
          </a:p>
          <a:p>
            <a:r>
              <a:t>Downloads, monthly active users, and monthly recurring revenue fell, while cost per install increased, so the product is shrinking and growth is getting more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1:00-1:20</a:t>
            </a:r>
          </a:p>
          <a:p>
            <a:r>
              <a:t>I diagnose this primarily as a product and positioning problem.</a:t>
            </a:r>
          </a:p>
          <a:p>
            <a:r>
              <a:t>The strongest evidence is retention decline, lower ratings, weak product freshness, and clearer competitor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1:20-1:45</a:t>
            </a:r>
          </a:p>
          <a:p>
            <a:r>
              <a:t>This slide shows why paid acquisition is not the answer right now.</a:t>
            </a:r>
          </a:p>
          <a:p>
            <a:r>
              <a:t>Customer acquisition cost is now almost equal to lifetime value, so the company should improve product value before scaling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1:45-2:05</a:t>
            </a:r>
          </a:p>
          <a:p>
            <a:r>
              <a:rPr dirty="0"/>
              <a:t>The market is still attractive, so I would not recommend leaving productivity.</a:t>
            </a:r>
          </a:p>
          <a:p>
            <a:r>
              <a:rPr dirty="0"/>
              <a:t>However, TaskFlow needs a sharper niche, and the strongest fit is calendar-first planning for young professionals, freelancers, and duos.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2:05-2:25</a:t>
            </a:r>
          </a:p>
          <a:p>
            <a:r>
              <a:rPr dirty="0"/>
              <a:t>Here I compare TaskFlow with </a:t>
            </a:r>
            <a:r>
              <a:rPr dirty="0" err="1"/>
              <a:t>Todoist</a:t>
            </a:r>
            <a:r>
              <a:rPr dirty="0"/>
              <a:t>, </a:t>
            </a:r>
            <a:r>
              <a:rPr dirty="0" err="1"/>
              <a:t>TickTick</a:t>
            </a:r>
            <a:r>
              <a:rPr dirty="0"/>
              <a:t>, Any.do, and Microsoft To Do.</a:t>
            </a:r>
          </a:p>
          <a:p>
            <a:r>
              <a:rPr dirty="0"/>
              <a:t>The benchmark shows that competitors are stronger in collaboration, product maturity, and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2:25-2:45</a:t>
            </a:r>
          </a:p>
          <a:p>
            <a:r>
              <a:rPr dirty="0"/>
              <a:t>TaskFlow should not try to out-feature everyone.</a:t>
            </a:r>
          </a:p>
          <a:p>
            <a:r>
              <a:rPr dirty="0"/>
              <a:t>Instead, it should focus on a narrower and cleaner use case where it can realistically compete.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2:45-3:10</a:t>
            </a:r>
          </a:p>
          <a:p>
            <a:r>
              <a:t>I considered three options: a focused turnaround, an AI-first pivot, and growth expansion into lower-cost segments.</a:t>
            </a:r>
          </a:p>
          <a:p>
            <a:r>
              <a:t>The first option is the most realistic and highest-probability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3:10-3:35</a:t>
            </a:r>
          </a:p>
          <a:p>
            <a:r>
              <a:rPr dirty="0"/>
              <a:t>My recommendation is a turnaround strategy, not a full pivot.</a:t>
            </a:r>
          </a:p>
          <a:p>
            <a:r>
              <a:rPr dirty="0"/>
              <a:t>TaskFlow should reposition itself as a calendar-first planner and improve its core workflow, collaboration, packaging, and growth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3:35-3:55</a:t>
            </a:r>
          </a:p>
          <a:p>
            <a:r>
              <a:t>The roadmap starts with stabilization, then differentiation, then selective AI features, and only after that scaling.</a:t>
            </a:r>
          </a:p>
          <a:p>
            <a:r>
              <a:t>The sequence matters because retention must improve before growth spend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3:55-4:15</a:t>
            </a:r>
          </a:p>
          <a:p>
            <a:r>
              <a:t>Success should be measured not only by top-of-funnel growth, but by stronger product value.</a:t>
            </a:r>
          </a:p>
          <a:p>
            <a:r>
              <a:t>My target metrics are better retention, lower churn, higher organic share, and monthly recurring revenue recovery over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4:15-4:30</a:t>
            </a:r>
          </a:p>
          <a:p>
            <a:r>
              <a:t>I also included the main execution risks, including team bandwidth, competitive pressure, AI risk, runway pressure, and distraction from low-value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4:30-4:50</a:t>
            </a:r>
          </a:p>
          <a:p>
            <a:r>
              <a:rPr dirty="0"/>
              <a:t>So overall, my conclusion is simple:</a:t>
            </a:r>
          </a:p>
          <a:p>
            <a:r>
              <a:rPr dirty="0"/>
              <a:t>TaskFlow should stay in the productivity category, avoid a risky full pivot for now, and focus on restoring product value, sharper positioning, and more efficient growth.</a:t>
            </a:r>
          </a:p>
          <a:p>
            <a:endParaRPr dirty="0"/>
          </a:p>
          <a:p>
            <a:r>
              <a:rPr dirty="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www.loom.com/share/ec723b4fa73542679c644feae340f941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www.mordorintelligence.com/industry-reports/task-management-software-market" TargetMode="External"/><Relationship Id="rId4" Type="http://schemas.openxmlformats.org/officeDocument/2006/relationships/hyperlink" Target="https://techcrunch.com/2026/01/21/consumers-spent-more-on-mobile-apps-than-games-in-2025-driven-by-ai-app-adoption/" TargetMode="External"/><Relationship Id="rId5" Type="http://schemas.openxmlformats.org/officeDocument/2006/relationships/hyperlink" Target="https://www.gartner.com/en/newsroom/press-releases/2025-01-15-gartner-predicts-mobile-app-usage-will-decrease-25-percent-due-to-ai-assistants-by-2027" TargetMode="External"/><Relationship Id="rId6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7" Type="http://schemas.openxmlformats.org/officeDocument/2006/relationships/hyperlink" Target="https://www.todoist.com/pricing" TargetMode="External"/><Relationship Id="rId8" Type="http://schemas.openxmlformats.org/officeDocument/2006/relationships/hyperlink" Target="https://www.todoist.com/help/articles/todoist-pro-plan-pricing-update-bxBvHZuJZ" TargetMode="External"/><Relationship Id="rId9" Type="http://schemas.openxmlformats.org/officeDocument/2006/relationships/hyperlink" Target="https://play.google.com/store/apps/details?id=com.todoist&amp;hl=en&amp;gl=US" TargetMode="External"/><Relationship Id="rId10" Type="http://schemas.openxmlformats.org/officeDocument/2006/relationships/hyperlink" Target="https://ticktick.com/upgrade" TargetMode="External"/><Relationship Id="rId11" Type="http://schemas.openxmlformats.org/officeDocument/2006/relationships/hyperlink" Target="https://github.com/TEZv/Genesis-Academy_Strategy-Operations-School-2.0-Case-Task/tree/ma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006840" y="0"/>
            <a:ext cx="3184855" cy="68580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64951"/>
            <a:ext cx="7863840" cy="1089529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t>TaskFlow | fix the leak before buying more growth</a:t>
            </a:r>
            <a:endParaRPr lang="en-US" sz="36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7132320" cy="6400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Genesis Strategy &amp; Operations School 2.0</a:t>
            </a:r>
          </a:p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Case Task | March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45592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2852928"/>
            <a:ext cx="18771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172968"/>
            <a:ext cx="5455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t>Do a focused turnaround.</a:t>
            </a:r>
          </a:p>
          <a:p>
            <a:pPr>
              <a:defRPr>
                <a:latin typeface="Segoe UI"/>
              </a:defRPr>
            </a:pPr>
            <a:r>
              <a:t>The category still works; the value engine does not.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455920" cy="123444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73152" cy="123444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4544568"/>
            <a:ext cx="5010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545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https://www.loom.com/share/ec723b4fa73542679c644feae340f941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9326880" y="914400"/>
            <a:ext cx="2286000" cy="3657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200" b="1">
                <a:solidFill>
                  <a:srgbClr val="FFF0E8"/>
                </a:solidFill>
                <a:latin typeface="Segoe UI"/>
              </a:defRPr>
            </a:pPr>
            <a: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234440"/>
            <a:ext cx="2651760" cy="8229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2200" b="1">
                <a:solidFill>
                  <a:srgbClr val="FFFDFC"/>
                </a:solidFill>
                <a:latin typeface="Segoe UI"/>
              </a:defRPr>
            </a:pPr>
            <a:r>
              <a:t>Oksana Kolisnyk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286000"/>
            <a:ext cx="2560320" cy="118186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t>Included: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deck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PDF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calculations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source 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03520"/>
            <a:ext cx="265176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Operating rule:</a:t>
            </a:r>
          </a:p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No scale before D30 &gt; 7% and paid churn &lt; 14%.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and own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My read: this is a value leakage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B7280"/>
                </a:solidFill>
                <a:latin typeface="Segoe UI"/>
              </a:defRPr>
            </a:pPr>
            <a:r>
              <a:t>The category is alive. TaskFlow stopped earning repeat usage.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3152" cy="14173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1848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Retention is the clearest signal: D30 fell from 12% to 5%, D90 from 6.5% to 2.3%, and paid churn rose to 18%.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578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73152" cy="14173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161848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it broke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193852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 product feels stale: no major release in 8 months, worse ratings, weak collaboration, no offline mode, repetitive 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5468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73152" cy="14173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326440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this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8444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Downloads and MAU fell 42%, CPI rose 44%, and burn is still about $150k a month against $60k MRR.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257800" cy="14173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4173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326440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management should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58444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 not fund a full pivot yet. Narrow the promise, fix first-session value, and scale only after the core numbers move.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83480"/>
            <a:ext cx="1097280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Segoe UI"/>
              </a:defRPr>
            </a:pPr>
            <a:r>
              <a:t>12-month objective: clear the retention gates, recover organic share, and reopen growth options.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brief; own calculations; Mordor; Gartner; competitor public pages.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The whole model bent in the same direction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7132320" cy="36290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57276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46720" y="157276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3024" y="168249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Downloads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200253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48k -&gt; 28k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2432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0" y="262432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4" y="273405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305409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180k -&gt; 105k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75887"/>
            <a:ext cx="3291840" cy="868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675887"/>
            <a:ext cx="73152" cy="868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3785615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105655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$86.4k -&gt; $60.0k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-31%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27448"/>
            <a:ext cx="3291840" cy="868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4727448"/>
            <a:ext cx="73152" cy="868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483717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Avg CPI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515721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$1.80 -&gt; $2.60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+44%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own calculations.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942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The leak starts after install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743200" cy="4297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4297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Retention broke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Every cohort got weaker. D30 fell 58% and D90 fell 65% vs Q1 2024. That is what a value leak looks like.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463040"/>
            <a:ext cx="2743200" cy="4297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11880" y="1463040"/>
            <a:ext cx="73152" cy="4297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The product stopped feeling fresh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Ratings fell from 4.6 to 4.2. Complaints repeat the same basics: weak collaboration, no offline mode, repetitive 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423160" cy="4297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73152" cy="4297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9984" y="157276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3. Paid growth became a 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1892808"/>
            <a:ext cx="220370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81% of installs are paid, and 62% come from Meta. That is too much dependence for a product with weakening retention.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331720" cy="42976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73152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1744" y="1572768"/>
            <a:ext cx="2130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4. Cheap volume will not save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1744" y="1892808"/>
            <a:ext cx="211226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Other markets are 29% of MAU but only 10% of revenue. Cheaper installs there do not repair the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public review themes from case prompt.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Paid growth is now almost a breakeven habit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46260"/>
            <a:ext cx="4389120" cy="2582399"/>
          </a:xfrm>
          <a:prstGeom prst="rect">
            <a:avLst/>
          </a:prstGeom>
        </p:spPr>
      </p:pic>
      <p:pic>
        <p:nvPicPr>
          <p:cNvPr id="5" name="Picture 4" descr="geo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6101"/>
            <a:ext cx="4754880" cy="26837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572768"/>
            <a:ext cx="260604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77840" y="157276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2414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CAC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$26.5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$2.60 / 9.8%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572768"/>
            <a:ext cx="260604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57276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1306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LTV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$4.80 / 18%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2880360"/>
            <a:ext cx="5394960" cy="114300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77840" y="2880360"/>
            <a:ext cx="73152" cy="11430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9900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So what?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3310128"/>
            <a:ext cx="5175504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At today's conversion and churn, a newly acquired payer barely covers expected subscription 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4251960"/>
            <a:ext cx="5394960" cy="1188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77840" y="4251960"/>
            <a:ext cx="73152" cy="1188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43616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Operator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4144" y="4681728"/>
            <a:ext cx="51755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Cap weak paid social. Shift energy into activation, retention, ASO and content until the model improves.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294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/>
              <a:t>Sources: Task brief dataset; simplified LTV/CAC estimates using provided ARPPU, churn, CPI and free-to-paid conversion.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Three places where real growth still exists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7033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9105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The category is still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Task management is still growing. The question is not whether demand exists, but where TaskFlow can still win.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37033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87121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The best growth pocket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9125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 narrower calendar-first planning use case fits the product better than generic to-do positioning.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37033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15137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Where to focus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47141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US, UK, Canada and Australia already drive most revenue. I would fix the product there before chasing cheaper installs elsewhere.</a:t>
            </a:r>
          </a:p>
        </p:txBody>
      </p:sp>
      <p:pic>
        <p:nvPicPr>
          <p:cNvPr id="16" name="Picture 15" descr="niche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508760"/>
            <a:ext cx="6812280" cy="48140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Mordor Intelligence; TechCrunch on Sensor Tower State of Mobile 2026; Gartner AI predictions.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What stronger players do differently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057400" cy="45262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45262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1856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TaskFlow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1837944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Generic promise, weak collaboration, no offline mode, stale UX, too much paid dependence.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54480"/>
            <a:ext cx="3977639" cy="205740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54480"/>
            <a:ext cx="73152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Todoist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Wins on templates, content and integrations. It feels easier to start for a concrete job to be done.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3977639" cy="205740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73152" cy="20574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7862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TickTick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Wins on bundled value: tasks, calendar, habits, focus tools and strong annual pricing.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794760"/>
            <a:ext cx="3977639" cy="182880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3794760"/>
            <a:ext cx="73152" cy="18288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Any.do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Wins on clearer shared-planning packaging through Family and Workspace flows.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794760"/>
            <a:ext cx="3977639" cy="182880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0" y="3794760"/>
            <a:ext cx="73152" cy="1828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7862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Microsoft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Wins distribution through Outlook and the Microsoft ecosystem, not just paid UA.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1059"/>
            <a:ext cx="10972800" cy="32004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950" b="0">
                <a:solidFill>
                  <a:srgbClr val="6B7280"/>
                </a:solidFill>
                <a:latin typeface="Segoe UI"/>
              </a:defRPr>
            </a:pPr>
            <a:r>
              <a:t>Lesson: TaskFlow does not need feature parity. It needs one sharper promise and fewer missing basics.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Todoist, TickTick, Any.do and Microsoft To Do official pages + Google Play listings.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Where TaskFlow still has room to win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1031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Faster first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Onboarding, templates and calendar setup can make the product useful in the first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554480"/>
            <a:ext cx="2606040" cy="21031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20440" y="1554480"/>
            <a:ext cx="73152" cy="21031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Better micro-collaboration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 opening is 2-5 person planning, not complex team workflows.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554480"/>
            <a:ext cx="2606040" cy="21031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73152" cy="21031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710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3. Less paid dependence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Competitors use templates, content, referrals and ecosystems. TaskFlow over-relies on paid social.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554480"/>
            <a:ext cx="2240280" cy="21031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81160" y="1554480"/>
            <a:ext cx="73152" cy="21031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4" y="1664208"/>
            <a:ext cx="20391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4. Product freshness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4" y="1984248"/>
            <a:ext cx="202082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Shipping visible basics matters. Reviews suggest users no longer trust the product to keep improving.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10881360" cy="13258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73152" cy="1325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178808"/>
            <a:ext cx="10680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The growth 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98848"/>
            <a:ext cx="10661904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TaskFlow should not try to out-feature everyone. The opening is a cleaner calendar-first planner for solo professionals, freelancers and very small shared workflows.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Competitor public pages and store listings; case prompt review themes.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The strategic choice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520440" cy="356616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73152" cy="3566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Option A | Fix and narrow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3220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I would say yes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Attacks the real leak, fits the current team, and can show progress inside 2-3 quarters.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Requires discipline to stay narrow.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356616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73152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Option B | Full AI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I would hesitate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Attractive theme, but it is a much bigger repositioning with higher product risk, stronger incumbents and extra cost.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Too much uncertainty for the current runway.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20440" cy="356616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73152" cy="356616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3024" y="1755648"/>
            <a:ext cx="30644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Option C | Chase cheaper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I would say no for now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It may improve install volume and headline CPI, but it does not solve retention and can weaken the revenue mix.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Looks like growth without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86400"/>
            <a:ext cx="10927080" cy="658368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486400"/>
            <a:ext cx="73152" cy="658368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I would pick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813540"/>
            <a:ext cx="107076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It attacks the real leak fastest, fits the 12-person team, and preserves the option to pivot later if the recovery stalls.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strategic evaluation based on task brief, market data and competitor benchmark.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935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What turnaround means in practice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2103120" cy="34747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73152" cy="34747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Rebuild the activation funnel.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Ship offline mode.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Tighten calendar parity.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Improve onboarding by use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08760"/>
            <a:ext cx="2103120" cy="34747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08760"/>
            <a:ext cx="73152" cy="3474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Pause weak paid social.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Rewrite the store listing and landing page.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Build templates and creator pilots.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08760"/>
            <a:ext cx="2103120" cy="34747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212080" y="1508760"/>
            <a:ext cx="73152" cy="34747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58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Customer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Run churn interviews.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Tag support tickets by reason.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Add cancellation survey.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Track D7 and D30 by cohort.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508760"/>
            <a:ext cx="2103120" cy="3474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98079" y="1508760"/>
            <a:ext cx="73152" cy="3474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44383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Support / success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Use lifecycle nudges for stuck trial users.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Build a self-serve help layer.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Turn support into a feedback loop, not only ticket handling.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508760"/>
            <a:ext cx="1828800" cy="34747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784080" y="1508760"/>
            <a:ext cx="73152" cy="3474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30384" y="1618488"/>
            <a:ext cx="1627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Ops /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0384" y="1938528"/>
            <a:ext cx="160934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Freeze non-core work.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Use weekly stop-loss rules on paid.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Limit the team to 3 core bets at a 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303520"/>
            <a:ext cx="10972800" cy="38404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50" b="1">
                <a:solidFill>
                  <a:srgbClr val="1F2937"/>
                </a:solidFill>
                <a:latin typeface="Segoe UI"/>
              </a:defRPr>
            </a:pPr>
            <a:r>
              <a:t>The point is not to do more work. It is to do fewer bets with tighter operating discipline.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recommendation based on brief, benchmark and market research.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90 days to stop the bleed, 12 months to scale winners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73152" cy="3383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Q2 2026 | Stop the bleed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Activation funnel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Offline mode MVP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Store listing rewrite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Paid stop-loss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93008" y="1737360"/>
            <a:ext cx="73152" cy="3383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Q3 2026 | Prove the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Collaboration 2.0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Calendar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Templates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Free / trial experiments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73152" cy="3383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Q4 2026 | Add AI selectively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Smart scheduling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Natural-language capture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Weekly planning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3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98863" y="1737360"/>
            <a:ext cx="73152" cy="33832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45167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Q1 2027 | Scale winners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Increase spend only on green channels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Referral engine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Wave-2 market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669280"/>
            <a:ext cx="10972800" cy="34747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50" b="1">
                <a:solidFill>
                  <a:srgbClr val="C2410C"/>
                </a:solidFill>
                <a:latin typeface="Segoe UI"/>
              </a:defRPr>
            </a:pPr>
            <a:r>
              <a:t>Hard checkpoint: if D30 is still below 7% by the end of Q3, revisit a broader pivot instead of raising spend.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roadmap recommendation.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Do not scale again until these thresholds are met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812280" y="1737360"/>
            <a:ext cx="46177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12280" y="173736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58584" y="184708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these gates matter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216712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They force the team to prove product value before buying more top-of-funnel volume.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12280" y="3017520"/>
            <a:ext cx="46177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812280" y="3017520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958584" y="312724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Minimum economic rule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4" y="344728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Paid LTV / CAC should move above about 1.3x before spend increases materially; healthy state is 1.5x or better.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12280" y="4297680"/>
            <a:ext cx="46177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812280" y="4297680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58584" y="440740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Scale rule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4" y="472744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All operating gates should clear for 2 consecutive months before paid budgets go back up.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thresholds built from current baselines and simplified unit economics.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12</a:t>
            </a:r>
          </a:p>
        </p:txBody>
      </p:sp>
      <p:pic>
        <p:nvPicPr>
          <p:cNvPr id="61" name="Picture 60" descr="threshold_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5897880" cy="288182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If the plan works, the business should feel different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User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D30 is back above 8%, ratings recover, and complaints about missing basics start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727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Growth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Organic share rises, paid dependence falls, and channel decisions get cleaner.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Revenue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Lower churn and better trial conversion lift MRR without forcing a risky price cut.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27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Team cadence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Product, growth and support work from the same weekly scorecard instead of chasing disconnected fixes.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8980" y="5248656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68980" y="5248656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15284" y="5358384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Strategic option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5284" y="5678424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Management can either keep compounding the recovery or pivot later from a position of strength, not panic.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risk assessment.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Selected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507492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91056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Sources (titles)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11096"/>
            <a:ext cx="48554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Mordor Intelligence - task management market</a:t>
            </a:r>
          </a:p>
          <a:p>
            <a:r>
              <a:t>2. TechCrunch on Sensor Tower State of Mobile 2026</a:t>
            </a:r>
          </a:p>
          <a:p>
            <a:r>
              <a:t>3. Todoist template gallery</a:t>
            </a:r>
          </a:p>
          <a:p>
            <a:r>
              <a:t>4. Todoist pricing update 2025</a:t>
            </a:r>
          </a:p>
          <a:p>
            <a:r>
              <a:t>5. TickTick upgrade page</a:t>
            </a:r>
          </a:p>
          <a:p>
            <a:r>
              <a:t>6. TickTick ambassador program</a:t>
            </a:r>
          </a:p>
          <a:p>
            <a:r>
              <a:t>7. Any.do pricing and Spaces</a:t>
            </a:r>
          </a:p>
          <a:p>
            <a:r>
              <a:t>8. Microsoft To Do with Outlook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81328"/>
            <a:ext cx="557784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5624" y="1591056"/>
            <a:ext cx="5376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Links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911096"/>
            <a:ext cx="5358384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https://www.mordorintelligence.com/industry-reports/task-management-software-market</a:t>
            </a:r>
          </a:p>
          <a:p>
            <a:r>
              <a:t>https://techcrunch.com/2026/01/21/consumers-spent-more-on-mobile-apps-than-games-in-2025-driven-by-ai-app-adoption/</a:t>
            </a:r>
          </a:p>
          <a:p>
            <a:r>
              <a:t>https://www.todoist.com/templates/getting-things-done</a:t>
            </a:r>
          </a:p>
          <a:p>
            <a:r>
              <a:t>https://www.todoist.com/help/articles/todoist-pricing-and-plans-update-2025-everything-you-need-to-know-Tn6Pg1JKI</a:t>
            </a:r>
          </a:p>
          <a:p>
            <a:r>
              <a:t>https://ticktick.com/upgrade</a:t>
            </a:r>
          </a:p>
          <a:p>
            <a:r>
              <a:t>https://ticktick.com/ambassador_program</a:t>
            </a:r>
          </a:p>
          <a:p>
            <a:r>
              <a:t>https://www.any.do/pricing</a:t>
            </a:r>
          </a:p>
          <a:p>
            <a:r>
              <a:t>https://support.microsoft.com/en-us/office/using-microsoft-to-do-with-outlook-tasks-c7a0253d-b8cc-4054-b94b-c194e0e5308a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486400"/>
            <a:ext cx="10927080" cy="859536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5486400"/>
            <a:ext cx="73152" cy="685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3" y="5596128"/>
            <a:ext cx="141648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t>Closing thought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786384" y="5916168"/>
            <a:ext cx="107076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This version is intentionally more operator-style: what to fix, where growth can come from, and what thresholds need to move before scaling again.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41448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Sources: Official market and competitor pages used in the revised deck.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2671</Words>
  <Application>Microsoft Office PowerPoint</Application>
  <PresentationFormat>Widescreen</PresentationFormat>
  <Paragraphs>326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Kolisnyk Oksana</dc:creator>
  <cp:keywords/>
  <dc:description>generated using python-pptx</dc:description>
  <cp:lastModifiedBy>Kolisnyk Oksana</cp:lastModifiedBy>
  <cp:revision>13</cp:revision>
  <dcterms:created xsi:type="dcterms:W3CDTF">2013-01-27T09:14:16Z</dcterms:created>
  <dcterms:modified xsi:type="dcterms:W3CDTF">2026-03-23T16:52:24Z</dcterms:modified>
  <cp:category/>
</cp:coreProperties>
</file>