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3" autoAdjust="0"/>
    <p:restoredTop sz="86697" autoAdjust="0"/>
  </p:normalViewPr>
  <p:slideViewPr>
    <p:cSldViewPr snapToGrid="0" snapToObjects="1">
      <p:cViewPr varScale="1">
        <p:scale>
          <a:sx n="68" d="100"/>
          <a:sy n="68" d="100"/>
        </p:scale>
        <p:origin x="42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A6344B-C0EF-4530-9BF6-D6F784C1035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399A4D-FE88-43C6-9A79-F3950580E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4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dirty="0"/>
              <a:t>0:00-0:20</a:t>
            </a:r>
            <a:endParaRPr lang="en-US" b="0" dirty="0">
              <a:effectLst/>
            </a:endParaRPr>
          </a:p>
          <a:p>
            <a:r>
              <a:rPr dirty="0"/>
              <a:t>Hi, my name is Oksana, and today I will briefly present my solution for the TaskFlow case.</a:t>
            </a:r>
          </a:p>
          <a:p>
            <a:r>
              <a:rPr dirty="0"/>
              <a:t>I will explain the main reason behind </a:t>
            </a:r>
            <a:r>
              <a:rPr dirty="0" err="1"/>
              <a:t>TaskFlow's</a:t>
            </a:r>
            <a:r>
              <a:rPr dirty="0"/>
              <a:t> decline, the market and competitor context, and the strategy I would recommend for the next 12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99A4D-FE88-43C6-9A79-F3950580EC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49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0:20-0:40</a:t>
            </a:r>
          </a:p>
          <a:p>
            <a:r>
              <a:t>TaskFlow's problem is not a shrinking market.</a:t>
            </a:r>
          </a:p>
          <a:p>
            <a:r>
              <a:t>The main issue is weakening product-market fit, together with lower retention, higher churn, and weaker differentiation.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0:40-1:00</a:t>
            </a:r>
          </a:p>
          <a:p>
            <a:r>
              <a:t>In 2025, all core business metrics declined.</a:t>
            </a:r>
          </a:p>
          <a:p>
            <a:r>
              <a:t>Downloads, monthly active users, and monthly recurring revenue fell, while cost per install increased, so the product is shrinking and growth is getting more expensive.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1:00-1:20</a:t>
            </a:r>
          </a:p>
          <a:p>
            <a:r>
              <a:t>I diagnose this primarily as a product and positioning problem.</a:t>
            </a:r>
          </a:p>
          <a:p>
            <a:r>
              <a:t>The strongest evidence is retention decline, lower ratings, weak product freshness, and clearer competitor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1:20-1:45</a:t>
            </a:r>
          </a:p>
          <a:p>
            <a:r>
              <a:t>This slide shows why paid acquisition is not the answer right now.</a:t>
            </a:r>
          </a:p>
          <a:p>
            <a:r>
              <a:t>Customer acquisition cost is now almost equal to lifetime value, so the company should improve product value before scaling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1:45-2:05</a:t>
            </a:r>
          </a:p>
          <a:p>
            <a:r>
              <a:rPr dirty="0"/>
              <a:t>The market is still attractive, so I would not recommend leaving productivity.</a:t>
            </a:r>
          </a:p>
          <a:p>
            <a:r>
              <a:rPr dirty="0"/>
              <a:t>However, TaskFlow needs a sharper niche, and the strongest fit is calendar-first planning for young professionals, freelancers, and duos.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2:05-2:25</a:t>
            </a:r>
          </a:p>
          <a:p>
            <a:r>
              <a:rPr dirty="0"/>
              <a:t>Here I compare TaskFlow with </a:t>
            </a:r>
            <a:r>
              <a:rPr dirty="0" err="1"/>
              <a:t>Todoist</a:t>
            </a:r>
            <a:r>
              <a:rPr dirty="0"/>
              <a:t>, </a:t>
            </a:r>
            <a:r>
              <a:rPr dirty="0" err="1"/>
              <a:t>TickTick</a:t>
            </a:r>
            <a:r>
              <a:rPr dirty="0"/>
              <a:t>, Any.do, and Microsoft To Do.</a:t>
            </a:r>
          </a:p>
          <a:p>
            <a:r>
              <a:rPr dirty="0"/>
              <a:t>The benchmark shows that competitors are stronger in collaboration, product maturity, and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2:25-2:45</a:t>
            </a:r>
          </a:p>
          <a:p>
            <a:r>
              <a:rPr dirty="0"/>
              <a:t>TaskFlow should not try to out-feature everyone.</a:t>
            </a:r>
          </a:p>
          <a:p>
            <a:r>
              <a:rPr dirty="0"/>
              <a:t>Instead, it should focus on a narrower and cleaner use case where it can realistically compete.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2:45-3:10</a:t>
            </a:r>
          </a:p>
          <a:p>
            <a:r>
              <a:t>I considered three options: a focused turnaround, an AI-first pivot, and growth expansion into lower-cost segments.</a:t>
            </a:r>
          </a:p>
          <a:p>
            <a:r>
              <a:t>The first option is the most realistic and highest-probability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3:10-3:35</a:t>
            </a:r>
          </a:p>
          <a:p>
            <a:r>
              <a:rPr dirty="0"/>
              <a:t>My recommendation is a turnaround strategy, not a full pivot.</a:t>
            </a:r>
          </a:p>
          <a:p>
            <a:r>
              <a:rPr dirty="0"/>
              <a:t>TaskFlow should reposition itself as a calendar-first planner and improve its core workflow, collaboration, packaging, and growth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3:35-3:55</a:t>
            </a:r>
          </a:p>
          <a:p>
            <a:r>
              <a:t>The roadmap starts with stabilization, then differentiation, then selective AI features, and only after that scaling.</a:t>
            </a:r>
          </a:p>
          <a:p>
            <a:r>
              <a:t>The sequence matters because retention must improve before growth spend increases.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3:55-4:15</a:t>
            </a:r>
          </a:p>
          <a:p>
            <a:r>
              <a:t>Success should be measured not only by top-of-funnel growth, but by stronger product value.</a:t>
            </a:r>
          </a:p>
          <a:p>
            <a:r>
              <a:t>My target metrics are better retention, lower churn, higher organic share, and monthly recurring revenue recovery over 12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4:15-4:30</a:t>
            </a:r>
          </a:p>
          <a:p>
            <a:r>
              <a:t>I also included the main execution risks, including team bandwidth, competitive pressure, AI risk, runway pressure, and distraction from low-value markets.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4:30-4:50</a:t>
            </a:r>
          </a:p>
          <a:p>
            <a:r>
              <a:rPr dirty="0"/>
              <a:t>So overall, my conclusion is simple:</a:t>
            </a:r>
          </a:p>
          <a:p>
            <a:r>
              <a:rPr dirty="0"/>
              <a:t>TaskFlow should stay in the productivity category, avoid a risky full pivot for now, and focus on restoring product value, sharper positioning, and more efficient growth.</a:t>
            </a:r>
          </a:p>
          <a:p>
            <a:endParaRPr dirty="0"/>
          </a:p>
          <a:p>
            <a:r>
              <a:rPr dirty="0"/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oom.com/share/ec723b4fa73542679c644feae340f941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mordorintelligence.com/industry-reports/task-management-software-market" TargetMode="External"/><Relationship Id="rId4" Type="http://schemas.openxmlformats.org/officeDocument/2006/relationships/hyperlink" Target="https://techcrunch.com/2026/01/21/consumers-spent-more-on-mobile-apps-than-games-in-2025-driven-by-ai-app-adoption/" TargetMode="External"/><Relationship Id="rId5" Type="http://schemas.openxmlformats.org/officeDocument/2006/relationships/hyperlink" Target="https://www.gartner.com/en/newsroom/press-releases/2025-01-15-gartner-predicts-mobile-app-usage-will-decrease-25-percent-due-to-ai-assistants-by-2027" TargetMode="External"/><Relationship Id="rId6" Type="http://schemas.openxmlformats.org/officeDocument/2006/relationships/hyperlink" Target="https://www.gartner.com/en/newsroom/press-releases/2025-08-26-gartner-predicts-40-percent-of-enterprise-apps-will-feature-task-specific-ai-agents-by-2026-up-from-less-than-5-percent-in-2025" TargetMode="External"/><Relationship Id="rId7" Type="http://schemas.openxmlformats.org/officeDocument/2006/relationships/hyperlink" Target="https://www.todoist.com/pricing" TargetMode="External"/><Relationship Id="rId8" Type="http://schemas.openxmlformats.org/officeDocument/2006/relationships/hyperlink" Target="https://www.todoist.com/help/articles/todoist-pro-plan-pricing-update-bxBvHZuJZ" TargetMode="External"/><Relationship Id="rId9" Type="http://schemas.openxmlformats.org/officeDocument/2006/relationships/hyperlink" Target="https://play.google.com/store/apps/details?id=com.todoist&amp;hl=en&amp;gl=US" TargetMode="External"/><Relationship Id="rId10" Type="http://schemas.openxmlformats.org/officeDocument/2006/relationships/hyperlink" Target="https://ticktick.com/upgrade" TargetMode="External"/><Relationship Id="rId11" Type="http://schemas.openxmlformats.org/officeDocument/2006/relationships/hyperlink" Target="https://github.com/TEZv/Genesis-Academy_Strategy-Operations-School-2.0-Case-Task/tree/ma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06840" y="0"/>
            <a:ext cx="3184855" cy="6858000"/>
          </a:xfrm>
          <a:prstGeom prst="rect">
            <a:avLst/>
          </a:prstGeom>
          <a:solidFill>
            <a:srgbClr val="243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64951"/>
            <a:ext cx="7863840" cy="1089529"/>
          </a:xfrm>
          <a:prstGeom prst="rect">
            <a:avLst/>
          </a:prstGeom>
          <a:noFill/>
        </p:spPr>
        <p:txBody>
          <a:bodyPr wrap="square" lIns="128016" tIns="128016" rIns="128016" bIns="128016" anchor="t">
            <a:spAutoFit/>
          </a:bodyPr>
          <a:lstStyle/>
          <a:p>
            <a:pPr>
              <a:defRPr>
                <a:solidFill/>
                <a:latin typeface="Segoe UI"/>
              </a:defRPr>
            </a:pPr>
            <a:r>
              <a:rPr sz="2800" b="1">
                <a:solidFill>
                  <a:srgbClr val="1F2937"/>
                </a:solidFill>
                <a:latin typeface="Georgia"/>
              </a:rPr>
              <a:t>TaskFlow doesn't need more traffic.</a:t>
            </a:r>
            <a:endParaRPr lang="en-US" sz="3600" b="1" dirty="0"/>
          </a:p>
          <a:p>
            <a:r>
              <a:rPr sz="2800" b="1">
                <a:solidFill>
                  <a:srgbClr val="1F2937"/>
                </a:solidFill>
                <a:latin typeface="Georgia"/>
              </a:rPr>
              <a:t>It needs its value 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7132320" cy="640080"/>
          </a:xfrm>
          <a:prstGeom prst="rect">
            <a:avLst/>
          </a:prstGeom>
          <a:noFill/>
        </p:spPr>
        <p:txBody>
          <a:bodyPr wrap="square" lIns="128016" tIns="128016" rIns="128016" bIns="128016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Segoe UI"/>
              </a:defRPr>
            </a:pPr>
            <a:r>
              <a:rPr sz="1300">
                <a:solidFill>
                  <a:srgbClr val="667085"/>
                </a:solidFill>
                <a:latin typeface="Aptos"/>
              </a:rPr>
              <a:t>A stricter, more operator-style turnaround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5455920" cy="141732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2852928"/>
            <a:ext cx="187718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1F2937"/>
                </a:solidFill>
                <a:latin typeface="Aptos"/>
              </a:rPr>
              <a:t>My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172968"/>
            <a:ext cx="5455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/>
                <a:latin typeface="Segoe UI"/>
              </a:defRPr>
            </a:pPr>
            <a:r>
              <a:rPr sz="1500" b="1">
                <a:solidFill>
                  <a:srgbClr val="1F2937"/>
                </a:solidFill>
                <a:latin typeface="Aptos"/>
              </a:rPr>
              <a:t>Fix the leak first.</a:t>
            </a:r>
          </a:p>
          <a:p>
            <a:r>
              <a:rPr sz="1500" b="1">
                <a:solidFill>
                  <a:srgbClr val="1F2937"/>
                </a:solidFill>
                <a:latin typeface="Aptos"/>
              </a:rPr>
              <a:t>Then earn the right to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34840"/>
            <a:ext cx="5455920" cy="123444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4434840"/>
            <a:ext cx="73152" cy="123444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4544568"/>
            <a:ext cx="5010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 sz="1250" b="1">
                <a:solidFill>
                  <a:srgbClr val="1F2937"/>
                </a:solidFill>
                <a:latin typeface="Aptos"/>
              </a:rPr>
              <a:t>Loom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864608"/>
            <a:ext cx="5455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2937"/>
                </a:solidFill>
                <a:latin typeface="Aptos"/>
                <a:hlinkClick r:id="rId3"/>
              </a:rPr>
              <a:t>https://www.loom.com/share/ec723b4fa73542679c644feae340f941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9326880" y="914400"/>
            <a:ext cx="2286000" cy="365760"/>
          </a:xfrm>
          <a:prstGeom prst="rect">
            <a:avLst/>
          </a:prstGeom>
          <a:noFill/>
        </p:spPr>
        <p:txBody>
          <a:bodyPr wrap="square" lIns="128016" tIns="128016" rIns="128016" bIns="128016" anchor="t">
            <a:spAutoFit/>
          </a:bodyPr>
          <a:lstStyle/>
          <a:p>
            <a:pPr algn="ctr">
              <a:defRPr sz="1200" b="1">
                <a:solidFill>
                  <a:srgbClr val="FFF0E8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Prepared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234440"/>
            <a:ext cx="2651760" cy="822960"/>
          </a:xfrm>
          <a:prstGeom prst="rect">
            <a:avLst/>
          </a:prstGeom>
          <a:noFill/>
        </p:spPr>
        <p:txBody>
          <a:bodyPr wrap="square" lIns="128016" tIns="128016" rIns="128016" bIns="128016" anchor="t">
            <a:spAutoFit/>
          </a:bodyPr>
          <a:lstStyle/>
          <a:p>
            <a:pPr algn="ctr">
              <a:defRPr sz="2200" b="1">
                <a:solidFill>
                  <a:srgbClr val="FFFDFC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Oksana Kolisnyk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286000"/>
            <a:ext cx="2560320" cy="1181862"/>
          </a:xfrm>
          <a:prstGeom prst="rect">
            <a:avLst/>
          </a:prstGeom>
          <a:noFill/>
        </p:spPr>
        <p:txBody>
          <a:bodyPr wrap="square" lIns="128016" tIns="128016" rIns="128016" bIns="128016" anchor="t">
            <a:spAutoFit/>
          </a:bodyPr>
          <a:lstStyle/>
          <a:p>
            <a:pPr>
              <a:defRPr sz="1200" b="0">
                <a:solidFill>
                  <a:srgbClr val="FFFDFC"/>
                </a:solidFill>
                <a:latin typeface="Segoe UI"/>
              </a:defRPr>
            </a:pPr>
            <a:r>
              <a:rPr sz="1200">
                <a:solidFill>
                  <a:srgbClr val="FFFDF9"/>
                </a:solidFill>
                <a:latin typeface="Aptos"/>
              </a:rPr>
              <a:t>Included:</a:t>
            </a:r>
          </a:p>
          <a:p>
            <a:r>
              <a:rPr sz="1200">
                <a:solidFill>
                  <a:srgbClr val="FFFDF9"/>
                </a:solidFill>
                <a:latin typeface="Aptos"/>
              </a:rPr>
              <a:t>- redesigned deck</a:t>
            </a:r>
          </a:p>
          <a:p>
            <a:r>
              <a:rPr sz="1200">
                <a:solidFill>
                  <a:srgbClr val="FFFDF9"/>
                </a:solidFill>
                <a:latin typeface="Aptos"/>
              </a:rPr>
              <a:t>- PDF</a:t>
            </a:r>
          </a:p>
          <a:p>
            <a:r>
              <a:rPr sz="1200">
                <a:solidFill>
                  <a:srgbClr val="FFFDF9"/>
                </a:solidFill>
                <a:latin typeface="Aptos"/>
              </a:rPr>
              <a:t>- calculations</a:t>
            </a:r>
          </a:p>
          <a:p>
            <a:r>
              <a:rPr sz="1200">
                <a:solidFill>
                  <a:srgbClr val="FFFDF9"/>
                </a:solidFill>
                <a:latin typeface="Aptos"/>
              </a:rPr>
              <a:t>- source 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5303520"/>
            <a:ext cx="2651760" cy="594360"/>
          </a:xfrm>
          <a:prstGeom prst="rect">
            <a:avLst/>
          </a:prstGeom>
          <a:noFill/>
        </p:spPr>
        <p:txBody>
          <a:bodyPr wrap="square" lIns="128016" tIns="128016" rIns="128016" bIns="128016" anchor="t">
            <a:spAutoFit/>
          </a:bodyPr>
          <a:lstStyle/>
          <a:p>
            <a:pPr algn="ctr">
              <a:defRPr sz="1600" b="1">
                <a:solidFill>
                  <a:srgbClr val="FFFDFC"/>
                </a:solidFill>
                <a:latin typeface="Segoe UI"/>
              </a:defRPr>
            </a:pPr>
            <a:r>
              <a:rPr sz="1500" b="1" i="1">
                <a:solidFill>
                  <a:srgbClr val="FFFDF9"/>
                </a:solidFill>
                <a:latin typeface="Georgia"/>
              </a:rPr>
              <a:t>My operating rule:</a:t>
            </a:r>
          </a:p>
          <a:p>
            <a:pPr algn="ctr"/>
            <a:r>
              <a:rPr sz="1500" b="1" i="1">
                <a:solidFill>
                  <a:srgbClr val="FFFDF9"/>
                </a:solidFill>
                <a:latin typeface="Georgia"/>
              </a:rPr>
              <a:t>no extra spend before the numbers move.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Sources: Task brief and own analysis.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4754880"/>
            <a:ext cx="2011680" cy="640080"/>
          </a:xfrm>
          <a:prstGeom prst="rect">
            <a:avLst/>
          </a:prstGeom>
          <a:solidFill>
            <a:srgbClr val="F7EFE6"/>
          </a:solidFill>
          <a:ln>
            <a:solidFill>
              <a:srgbClr val="B65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50992" y="4809744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B65A34"/>
                </a:solidFill>
                <a:latin typeface="Georgia"/>
              </a:defRPr>
            </a:pPr>
            <a:r>
              <a:t>This is the sentence I would defend in the room.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Segoe UI Semibold"/>
              </a:defRPr>
            </a:pPr>
            <a:r>
              <a:rPr sz="2500" b="1">
                <a:solidFill>
                  <a:srgbClr val="1F2937"/>
                </a:solidFill>
                <a:latin typeface="Georgia"/>
              </a:rPr>
              <a:t>Start here: the category is fine.</a:t>
            </a:r>
          </a:p>
          <a:p>
            <a:r>
              <a:rPr sz="2500" b="1">
                <a:solidFill>
                  <a:srgbClr val="1F2937"/>
                </a:solidFill>
                <a:latin typeface="Georgia"/>
              </a:rPr>
              <a:t>The product is not.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24128"/>
            <a:ext cx="1005840" cy="73152"/>
          </a:xfrm>
          <a:prstGeom prst="round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B7280"/>
                </a:solidFill>
                <a:latin typeface="Segoe UI"/>
              </a:defRPr>
            </a:pPr>
            <a:r>
              <a:rPr sz="1200">
                <a:solidFill>
                  <a:srgbClr val="667085"/>
                </a:solidFill>
                <a:latin typeface="Aptos"/>
              </a:rPr>
              <a:t>If I had to summarize the case in one line: TaskFlow stopped earning repeat usage.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486400" cy="141732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73152" cy="141732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1618488"/>
            <a:ext cx="5285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What is broken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938528"/>
            <a:ext cx="526694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Retention is the clearest signal: D30 fell from 12% to 5%, D90 from 6.5% to 2.3%, and paid churn rose to 18%.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08760"/>
            <a:ext cx="5257800" cy="141732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508760"/>
            <a:ext cx="73152" cy="141732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5664" y="1618488"/>
            <a:ext cx="50566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Why it broke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1938528"/>
            <a:ext cx="503834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The product feels stale: no major release in 8 months, worse ratings, weak collaboration, no offline mode, repetitive UI.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5486400" cy="141732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154680"/>
            <a:ext cx="73152" cy="141732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" y="3264408"/>
            <a:ext cx="5285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Why this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584448"/>
            <a:ext cx="526694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Downloads and MAU fell 42%, CPI rose 44%, and burn is still about $150k a month against $60k MRR.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54680"/>
            <a:ext cx="5257800" cy="141732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154680"/>
            <a:ext cx="73152" cy="141732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5664" y="3264408"/>
            <a:ext cx="50566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 sz="1250" b="1">
                <a:solidFill>
                  <a:srgbClr val="1F2937"/>
                </a:solidFill>
                <a:latin typeface="Aptos"/>
              </a:rPr>
              <a:t>My management 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584448"/>
            <a:ext cx="503834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Do not fund a full pivot yet. Narrow the promise, fix first-session value, and scale only after the core numbers move.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983480"/>
            <a:ext cx="10972800" cy="594360"/>
          </a:xfrm>
          <a:prstGeom prst="rect">
            <a:avLst/>
          </a:prstGeom>
          <a:noFill/>
        </p:spPr>
        <p:txBody>
          <a:bodyPr wrap="square" lIns="128016" tIns="128016" rIns="128016" bIns="128016" anchor="t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  <a:latin typeface="Segoe UI"/>
              </a:defRPr>
            </a:pPr>
            <a:r>
              <a:rPr sz="1300" b="1">
                <a:solidFill>
                  <a:srgbClr val="1F2937"/>
                </a:solidFill>
                <a:latin typeface="Aptos"/>
              </a:rPr>
              <a:t>Clearer promise. Better first-session value. Less paid dependence until retention recovers.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Sources: Task brief; own calculations; Mordor; Gartner; competitor public pages.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4983480"/>
            <a:ext cx="2286000" cy="731520"/>
          </a:xfrm>
          <a:prstGeom prst="rect">
            <a:avLst/>
          </a:prstGeom>
          <a:solidFill>
            <a:srgbClr val="F7EFE6"/>
          </a:solidFill>
          <a:ln>
            <a:solidFill>
              <a:srgbClr val="B65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51392" y="5038344"/>
            <a:ext cx="213969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B65A34"/>
                </a:solidFill>
                <a:latin typeface="Georgia"/>
              </a:defRPr>
            </a:pPr>
            <a:r>
              <a:t>Less ?more features?.</a:t>
            </a:r>
            <a:br/>
            <a:r>
              <a:t>More ?why would I come back tomorrow??.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Segoe UI Semibold"/>
              </a:defRPr>
            </a:pPr>
            <a:r>
              <a:rPr sz="2500" b="1">
                <a:solidFill>
                  <a:srgbClr val="1F2937"/>
                </a:solidFill>
                <a:latin typeface="Georgia"/>
              </a:rPr>
              <a:t>The whole model bent in the same direction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24128"/>
            <a:ext cx="1005840" cy="73152"/>
          </a:xfrm>
          <a:prstGeom prst="round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7132320" cy="362905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572768"/>
            <a:ext cx="3291840" cy="86868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46720" y="1572768"/>
            <a:ext cx="73152" cy="86868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93024" y="1682496"/>
            <a:ext cx="3090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Downloads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3024" y="2002536"/>
            <a:ext cx="307238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48k -&gt; 28k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-42%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624328"/>
            <a:ext cx="3291840" cy="86868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46720" y="2624328"/>
            <a:ext cx="73152" cy="86868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93024" y="2734056"/>
            <a:ext cx="3090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MAU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3024" y="3054096"/>
            <a:ext cx="307238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180k -&gt; 105k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-42%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675887"/>
            <a:ext cx="3291840" cy="86868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3675887"/>
            <a:ext cx="73152" cy="86868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3024" y="3785615"/>
            <a:ext cx="3090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MRR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4105655"/>
            <a:ext cx="307238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$86.4k -&gt; $60.0k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-31%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727448"/>
            <a:ext cx="3291840" cy="86868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4727448"/>
            <a:ext cx="73152" cy="86868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93024" y="4837176"/>
            <a:ext cx="3090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Avg CPI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5157216"/>
            <a:ext cx="307238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$1.80 -&gt; $2.60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+44%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Sources: Task brief dataset; own calculations.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942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Segoe UI Semibold"/>
              </a:defRPr>
            </a:pPr>
            <a:r>
              <a:rPr sz="2500" b="1">
                <a:solidFill>
                  <a:srgbClr val="1F2937"/>
                </a:solidFill>
                <a:latin typeface="Georgia"/>
              </a:rPr>
              <a:t>The leak starts after install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24128"/>
            <a:ext cx="1005840" cy="73152"/>
          </a:xfrm>
          <a:prstGeom prst="round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743200" cy="429768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73152" cy="429768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572768"/>
            <a:ext cx="2542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1. Retention broke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892808"/>
            <a:ext cx="2523744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Every cohort got weaker. D30 fell 58% and D90 fell 65% vs Q1 2024. That is what a value leak looks like.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463040"/>
            <a:ext cx="2743200" cy="429768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11880" y="1463040"/>
            <a:ext cx="73152" cy="429768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58184" y="1572768"/>
            <a:ext cx="2542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2. The product stopped feeling fresh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8184" y="1892808"/>
            <a:ext cx="2523744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Ratings fell from 4.6 to 4.2. Complaints repeat the same basics: weak collaboration, no offline mode, repetitive UI.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463040"/>
            <a:ext cx="2423160" cy="429768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0" y="1463040"/>
            <a:ext cx="73152" cy="429768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29984" y="1572768"/>
            <a:ext cx="2221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3. Paid growth became a patch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9984" y="1892808"/>
            <a:ext cx="2203704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81% of installs are paid, and 62% come from Meta. That is too much dependence for a product with weakening retention.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463040"/>
            <a:ext cx="2331720" cy="429768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235440" y="1463040"/>
            <a:ext cx="73152" cy="429768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81744" y="1572768"/>
            <a:ext cx="2130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4. Cheap volume will not save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1744" y="1892808"/>
            <a:ext cx="2112264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Other markets are 29% of MAU but only 10% of revenue. Cheaper installs there do not repair the model.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Sources: Task brief dataset; public review themes from case prompt.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5257800"/>
            <a:ext cx="2194560" cy="658368"/>
          </a:xfrm>
          <a:prstGeom prst="rect">
            <a:avLst/>
          </a:prstGeom>
          <a:solidFill>
            <a:srgbClr val="F7EFE6"/>
          </a:solidFill>
          <a:ln>
            <a:solidFill>
              <a:srgbClr val="B65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51392" y="5312664"/>
            <a:ext cx="20482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B65A34"/>
                </a:solidFill>
                <a:latin typeface="Georgia"/>
              </a:defRPr>
            </a:pPr>
            <a:r>
              <a:t>This is why I did not blame the market first.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Segoe UI Semibold"/>
              </a:defRPr>
            </a:pPr>
            <a:r>
              <a:rPr sz="2500" b="1">
                <a:solidFill>
                  <a:srgbClr val="1F2937"/>
                </a:solidFill>
                <a:latin typeface="Georgia"/>
              </a:rPr>
              <a:t>This is why buying more installs now is a trap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24128"/>
            <a:ext cx="1005840" cy="73152"/>
          </a:xfrm>
          <a:prstGeom prst="round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46260"/>
            <a:ext cx="4389120" cy="2582399"/>
          </a:xfrm>
          <a:prstGeom prst="rect">
            <a:avLst/>
          </a:prstGeom>
        </p:spPr>
      </p:pic>
      <p:pic>
        <p:nvPicPr>
          <p:cNvPr id="5" name="Picture 4" descr="geo_m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26101"/>
            <a:ext cx="4754880" cy="26837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577840" y="1572768"/>
            <a:ext cx="2606040" cy="109728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577840" y="1572768"/>
            <a:ext cx="73152" cy="109728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24144" y="1682496"/>
            <a:ext cx="2404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Approx. paid CAC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24144" y="2002536"/>
            <a:ext cx="23865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$26.5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= $2.60 / 9.8%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572768"/>
            <a:ext cx="2606040" cy="109728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366760" y="1572768"/>
            <a:ext cx="73152" cy="109728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13064" y="1682496"/>
            <a:ext cx="2404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Approx. paid LTV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3064" y="2002536"/>
            <a:ext cx="23865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$26.7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= $4.80 / 18%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2880360"/>
            <a:ext cx="5394960" cy="114300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577840" y="2880360"/>
            <a:ext cx="73152" cy="114300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24144" y="2990088"/>
            <a:ext cx="5193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 sz="1250" b="1">
                <a:solidFill>
                  <a:srgbClr val="1F2937"/>
                </a:solidFill>
                <a:latin typeface="Aptos"/>
              </a:rPr>
              <a:t>So what I would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24144" y="3310128"/>
            <a:ext cx="517550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At today's conversion and churn, a newly acquired payer barely covers expected subscription value.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0" y="4251960"/>
            <a:ext cx="5394960" cy="118872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577840" y="4251960"/>
            <a:ext cx="73152" cy="118872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24144" y="4361688"/>
            <a:ext cx="5193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Operator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24144" y="4681728"/>
            <a:ext cx="517550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Cap weak paid social. Shift energy into activation, retention, ASO and content until the model improves.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62940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Segoe UI"/>
              </a:defRPr>
            </a:pPr>
            <a:r>
              <a:rPr dirty="0">
                <a:solidFill>
                  <a:srgbClr val="1F2937"/>
                </a:solidFill>
                <a:latin typeface="Aptos"/>
              </a:rPr>
              <a:t>Sources: Task brief dataset; simplified LTV/CAC estimates using provided ARPPU, churn, CPI and free-to-paid conversion.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5349240"/>
            <a:ext cx="2560320" cy="658368"/>
          </a:xfrm>
          <a:prstGeom prst="rect">
            <a:avLst/>
          </a:prstGeom>
          <a:solidFill>
            <a:srgbClr val="F7EFE6"/>
          </a:solidFill>
          <a:ln>
            <a:solidFill>
              <a:srgbClr val="B65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9872" y="5404104"/>
            <a:ext cx="2414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B65A34"/>
                </a:solidFill>
                <a:latin typeface="Georgia"/>
              </a:defRPr>
            </a:pPr>
            <a:r>
              <a:t>Buying more traffic now mostly buys churn.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789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Segoe UI Semibold"/>
              </a:defRPr>
            </a:pPr>
            <a:r>
              <a:rPr sz="2500" b="1">
                <a:solidFill>
                  <a:srgbClr val="1F2937"/>
                </a:solidFill>
                <a:latin typeface="Georgia"/>
              </a:rPr>
              <a:t>Where I still see upside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24128"/>
            <a:ext cx="1005840" cy="73152"/>
          </a:xfrm>
          <a:prstGeom prst="round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3703320" cy="109728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73152" cy="109728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591056"/>
            <a:ext cx="3502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 sz="1250" b="1">
                <a:solidFill>
                  <a:srgbClr val="1F2937"/>
                </a:solidFill>
                <a:latin typeface="Aptos"/>
              </a:rPr>
              <a:t>Demand still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911096"/>
            <a:ext cx="34838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Task management is still growing. The question is not whether demand exists, but where TaskFlow can still win.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1488"/>
            <a:ext cx="3703320" cy="109728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761488"/>
            <a:ext cx="73152" cy="109728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2871216"/>
            <a:ext cx="3502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 sz="1250" b="1">
                <a:solidFill>
                  <a:srgbClr val="1F2937"/>
                </a:solidFill>
                <a:latin typeface="Aptos"/>
              </a:rPr>
              <a:t>The best growth pocket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191256"/>
            <a:ext cx="34838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A narrower calendar-first planning use case fits the product better than generic to-do positioning.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41648"/>
            <a:ext cx="3703320" cy="109728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4041648"/>
            <a:ext cx="73152" cy="109728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4151376"/>
            <a:ext cx="3502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 sz="1250" b="1">
                <a:solidFill>
                  <a:srgbClr val="1F2937"/>
                </a:solidFill>
                <a:latin typeface="Aptos"/>
              </a:rPr>
              <a:t>Where I would focus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471416"/>
            <a:ext cx="34838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US, UK, Canada and Australia already drive most revenue. I would fix the product there before chasing cheaper installs elsewhere.</a:t>
            </a:r>
          </a:p>
        </p:txBody>
      </p:sp>
      <p:pic>
        <p:nvPicPr>
          <p:cNvPr id="16" name="Picture 15" descr="niche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508760"/>
            <a:ext cx="6812280" cy="481401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Sources: Mordor Intelligence; TechCrunch on Sensor Tower State of Mobile 2026; Gartner AI predictions.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Segoe UI Semibold"/>
              </a:defRPr>
            </a:pPr>
            <a:r>
              <a:rPr sz="2500" b="1">
                <a:solidFill>
                  <a:srgbClr val="1F2937"/>
                </a:solidFill>
                <a:latin typeface="Georgia"/>
              </a:rPr>
              <a:t>What stronger players do differently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24128"/>
            <a:ext cx="1005840" cy="73152"/>
          </a:xfrm>
          <a:prstGeom prst="round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2057400" cy="452628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73152" cy="452628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664208"/>
            <a:ext cx="1856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TaskFlow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984248"/>
            <a:ext cx="1837944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Generic promise, weak collaboration, no offline mode, stale UX, too much paid dependence.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554480"/>
            <a:ext cx="3977639" cy="205740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26080" y="1554480"/>
            <a:ext cx="73152" cy="205740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72384" y="1664208"/>
            <a:ext cx="377647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Todoist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2384" y="1984248"/>
            <a:ext cx="3758183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Wins on templates, content and integrations. It feels easier to start for a concrete job to be done.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554480"/>
            <a:ext cx="3977639" cy="205740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32320" y="1554480"/>
            <a:ext cx="73152" cy="205740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78624" y="1664208"/>
            <a:ext cx="377647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TickTick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8624" y="1984248"/>
            <a:ext cx="3758183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Wins on bundled value: tasks, calendar, habits, focus tools and strong annual pricing.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3794760"/>
            <a:ext cx="3977639" cy="182880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26080" y="3794760"/>
            <a:ext cx="73152" cy="182880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72384" y="3904488"/>
            <a:ext cx="377647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Any.do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4224528"/>
            <a:ext cx="3758183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Wins on clearer shared-planning packaging through Family and Workspace flows.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3794760"/>
            <a:ext cx="3977639" cy="182880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2320" y="3794760"/>
            <a:ext cx="73152" cy="182880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78624" y="3904488"/>
            <a:ext cx="377647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Microsoft To 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8624" y="4224528"/>
            <a:ext cx="3758183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Wins distribution through Outlook and the Microsoft ecosystem, not just paid UA.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011059"/>
            <a:ext cx="10972800" cy="320040"/>
          </a:xfrm>
          <a:prstGeom prst="rect">
            <a:avLst/>
          </a:prstGeom>
          <a:noFill/>
        </p:spPr>
        <p:txBody>
          <a:bodyPr wrap="square" lIns="128016" tIns="128016" rIns="128016" bIns="128016" anchor="t">
            <a:spAutoFit/>
          </a:bodyPr>
          <a:lstStyle/>
          <a:p>
            <a:pPr algn="l">
              <a:defRPr sz="950" b="0">
                <a:solidFill>
                  <a:srgbClr val="6B7280"/>
                </a:solidFill>
                <a:latin typeface="Segoe UI"/>
              </a:defRPr>
            </a:pPr>
            <a:r>
              <a:rPr sz="1150" b="1" i="1">
                <a:solidFill>
                  <a:srgbClr val="B65A34"/>
                </a:solidFill>
                <a:latin typeface="Georgia"/>
              </a:rPr>
              <a:t>The practical lesson: TaskFlow needs a sharper promise, not a longer feature list.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Sources: Todoist, TickTick, Any.do and Microsoft To Do official pages + Google Play listings.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789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Segoe UI Semibold"/>
              </a:defRPr>
            </a:pPr>
            <a:r>
              <a:rPr sz="2500" b="1">
                <a:solidFill>
                  <a:srgbClr val="1F2937"/>
                </a:solidFill>
                <a:latin typeface="Georgia"/>
              </a:rPr>
              <a:t>Where TaskFlow still has room to win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24128"/>
            <a:ext cx="1005840" cy="73152"/>
          </a:xfrm>
          <a:prstGeom prst="round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2606040" cy="210312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73152" cy="210312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664208"/>
            <a:ext cx="2404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1. Faster first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984248"/>
            <a:ext cx="2386584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Onboarding, templates and calendar setup can make the product useful in the first session.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554480"/>
            <a:ext cx="2606040" cy="210312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20440" y="1554480"/>
            <a:ext cx="73152" cy="210312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66744" y="1664208"/>
            <a:ext cx="2404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2. Better micro-collaboration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6744" y="1984248"/>
            <a:ext cx="2386584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The opening is 2-5 person planning, not complex team workflows.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2606040" cy="210312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73152" cy="210312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47104" y="1664208"/>
            <a:ext cx="2404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3. Less paid dependence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984248"/>
            <a:ext cx="2386584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Competitors use templates, content, referrals and ecosystems. TaskFlow over-relies on paid social.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1554480"/>
            <a:ext cx="2240280" cy="210312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281160" y="1554480"/>
            <a:ext cx="73152" cy="210312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27464" y="1664208"/>
            <a:ext cx="20391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4. Product freshness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7464" y="1984248"/>
            <a:ext cx="2020824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Shipping visible basics matters. Reviews suggest users no longer trust the product to keep improving.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69080"/>
            <a:ext cx="10881360" cy="132588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4069080"/>
            <a:ext cx="73152" cy="132588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4178808"/>
            <a:ext cx="10680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 sz="1250" b="1">
                <a:solidFill>
                  <a:srgbClr val="1F2937"/>
                </a:solidFill>
                <a:latin typeface="Aptos"/>
              </a:rPr>
              <a:t>The opening I would pursue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498848"/>
            <a:ext cx="10661904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TaskFlow should not try to out-feature everyone. The opening is a cleaner calendar-first planner for solo professionals, freelancers and very small shared workflows.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Sources: Competitor public pages and store listings; case prompt review themes.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4754880"/>
            <a:ext cx="2194560" cy="713232"/>
          </a:xfrm>
          <a:prstGeom prst="rect">
            <a:avLst/>
          </a:prstGeom>
          <a:solidFill>
            <a:srgbClr val="F7EFE6"/>
          </a:solidFill>
          <a:ln>
            <a:solidFill>
              <a:srgbClr val="B65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34272" y="4809744"/>
            <a:ext cx="204825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B65A34"/>
                </a:solidFill>
                <a:latin typeface="Georgia"/>
              </a:defRPr>
            </a:pPr>
            <a:r>
              <a:t>This is narrow on purpose.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Segoe UI Semibold"/>
              </a:defRPr>
            </a:pPr>
            <a:r>
              <a:rPr sz="2400" b="1">
                <a:solidFill>
                  <a:srgbClr val="1F2937"/>
                </a:solidFill>
                <a:latin typeface="Georgia"/>
              </a:rPr>
              <a:t>I considered 3 paths.</a:t>
            </a:r>
          </a:p>
          <a:p>
            <a:r>
              <a:rPr sz="2400" b="1">
                <a:solidFill>
                  <a:srgbClr val="1F2937"/>
                </a:solidFill>
                <a:latin typeface="Georgia"/>
              </a:rPr>
              <a:t>Only one earns the right to scale.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24128"/>
            <a:ext cx="1005840" cy="73152"/>
          </a:xfrm>
          <a:prstGeom prst="round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520440" cy="356616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73152" cy="356616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55648"/>
            <a:ext cx="33192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Option A | Fix and narrow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253220"/>
            <a:ext cx="3300984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Why I would say yes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Attacks the real leak, fits the current team, and can show progress inside 2-3 quarters.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Main downside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Requires discipline to stay narrow.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520440" cy="356616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73152" cy="356616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9704" y="1755648"/>
            <a:ext cx="33192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Option B | Full AI pivot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232702"/>
            <a:ext cx="3300984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Why I would hesitate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Attractive theme, but it is a much bigger repositioning with higher product risk, stronger incumbents and extra cost.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Main downside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Too much uncertainty for the current runway.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520440" cy="356616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73152" cy="356616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93024" y="1755648"/>
            <a:ext cx="306444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Option C | Chase cheaper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232702"/>
            <a:ext cx="3300984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Why I would say no for now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It may improve install volume and headline CPI, but it does not solve retention and can weaken the revenue mix.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Main downside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Looks like growth without 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86400"/>
            <a:ext cx="10927080" cy="658368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5486400"/>
            <a:ext cx="73152" cy="658368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5596128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 sz="1250" b="1">
                <a:solidFill>
                  <a:srgbClr val="1F2937"/>
                </a:solidFill>
                <a:latin typeface="Aptos"/>
              </a:rPr>
              <a:t>My choice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813540"/>
            <a:ext cx="107076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 sz="1200" b="1">
                <a:solidFill>
                  <a:srgbClr val="1F2937"/>
                </a:solidFill>
                <a:latin typeface="Aptos"/>
              </a:rPr>
              <a:t>Fix and narrow first. If the recovery stalls after Q3, reopen the pivot conversation from a stronger fact base.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Sources: Own strategic evaluation based on task brief, market data and competitor benchmark.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93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Segoe UI Semibold"/>
              </a:defRPr>
            </a:pPr>
            <a:r>
              <a:rPr sz="2500" b="1">
                <a:solidFill>
                  <a:srgbClr val="1F2937"/>
                </a:solidFill>
                <a:latin typeface="Georgia"/>
              </a:rPr>
              <a:t>If I joined the team on Monday morning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24128"/>
            <a:ext cx="1005840" cy="73152"/>
          </a:xfrm>
          <a:prstGeom prst="round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103120" cy="347472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73152" cy="347472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618488"/>
            <a:ext cx="1901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938528"/>
            <a:ext cx="1883664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Rebuild the activation funnel.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Ship offline mode.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Tighten calendar parity.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Improve onboarding by use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508760"/>
            <a:ext cx="2103120" cy="347472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26080" y="1508760"/>
            <a:ext cx="73152" cy="347472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72384" y="1618488"/>
            <a:ext cx="1901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2384" y="1938528"/>
            <a:ext cx="1883664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Pause weak paid social.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Rewrite the store listing and landing page.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Build templates and creator pilots.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508760"/>
            <a:ext cx="2103120" cy="347472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12080" y="1508760"/>
            <a:ext cx="73152" cy="347472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58384" y="1618488"/>
            <a:ext cx="1901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Customer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8384" y="1938528"/>
            <a:ext cx="1883664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Run churn interviews.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Tag support tickets by reason.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Add cancellation survey.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Track D7 and D30 by cohort.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508760"/>
            <a:ext cx="2103120" cy="347472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98079" y="1508760"/>
            <a:ext cx="73152" cy="347472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44383" y="1618488"/>
            <a:ext cx="1901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Support / success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44383" y="1938528"/>
            <a:ext cx="1883664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Use lifecycle nudges for stuck trial users.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Build a self-serve help layer.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Turn support into a feedback loop, not only ticket handling.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508760"/>
            <a:ext cx="1828800" cy="347472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784080" y="1508760"/>
            <a:ext cx="73152" cy="347472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30384" y="1618488"/>
            <a:ext cx="16276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Ops / finance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0384" y="1938528"/>
            <a:ext cx="1609344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Freeze non-core work.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Use weekly stop-loss rules on paid.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Limit the team to 3 core bets at a 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303520"/>
            <a:ext cx="10972800" cy="384048"/>
          </a:xfrm>
          <a:prstGeom prst="rect">
            <a:avLst/>
          </a:prstGeom>
          <a:noFill/>
        </p:spPr>
        <p:txBody>
          <a:bodyPr wrap="square" lIns="128016" tIns="128016" rIns="128016" bIns="128016" anchor="t">
            <a:spAutoFit/>
          </a:bodyPr>
          <a:lstStyle/>
          <a:p>
            <a:pPr algn="l">
              <a:defRPr sz="1450" b="1">
                <a:solidFill>
                  <a:srgbClr val="1F2937"/>
                </a:solidFill>
                <a:latin typeface="Segoe UI"/>
              </a:defRPr>
            </a:pPr>
            <a:r>
              <a:rPr sz="1200" b="1" i="1">
                <a:solidFill>
                  <a:srgbClr val="B65A34"/>
                </a:solidFill>
                <a:latin typeface="Georgia"/>
              </a:rPr>
              <a:t>This is a sequencing plan, not a wishlist.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Sources: Own recommendation based on brief, benchmark and market research.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5440680"/>
            <a:ext cx="2560320" cy="713232"/>
          </a:xfrm>
          <a:prstGeom prst="rect">
            <a:avLst/>
          </a:prstGeom>
          <a:solidFill>
            <a:srgbClr val="F7EFE6"/>
          </a:solidFill>
          <a:ln>
            <a:solidFill>
              <a:srgbClr val="B65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495544"/>
            <a:ext cx="241401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B65A34"/>
                </a:solidFill>
                <a:latin typeface="Georgia"/>
              </a:defRPr>
            </a:pPr>
            <a:r>
              <a:t>Same thesis, translated into owners.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Segoe UI Semibold"/>
              </a:defRPr>
            </a:pPr>
            <a:r>
              <a:rPr sz="2500" b="1">
                <a:solidFill>
                  <a:srgbClr val="1F2937"/>
                </a:solidFill>
                <a:latin typeface="Georgia"/>
              </a:rPr>
              <a:t>Turnaround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24128"/>
            <a:ext cx="1005840" cy="73152"/>
          </a:xfrm>
          <a:prstGeom prst="round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2423160" cy="338328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73152" cy="338328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847088"/>
            <a:ext cx="2221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Q2 2026 | Stop the bleed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167128"/>
            <a:ext cx="2203704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Activation funnel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Offline mode MVP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Store listing rewrite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Paid stop-loss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1737360"/>
            <a:ext cx="2423160" cy="338328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93008" y="1737360"/>
            <a:ext cx="73152" cy="338328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9312" y="1847088"/>
            <a:ext cx="2221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Q3 2026 | Prove the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167128"/>
            <a:ext cx="2203704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Collaboration 2.0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Calendar parity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Templates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Free / trial experiments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1737360"/>
            <a:ext cx="2423160" cy="338328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45936" y="1737360"/>
            <a:ext cx="73152" cy="338328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847088"/>
            <a:ext cx="2221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Q4 2026 | Add AI selectively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67128"/>
            <a:ext cx="2203704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Smart scheduling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Natural-language capture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Weekly planning summary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98863" y="1737360"/>
            <a:ext cx="2423160" cy="338328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98863" y="1737360"/>
            <a:ext cx="73152" cy="338328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45167" y="1847088"/>
            <a:ext cx="2221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Q1 2027 | Scale winners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7" y="2167128"/>
            <a:ext cx="2203704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Increase spend only on green channels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Referral engine</a:t>
            </a:r>
          </a:p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Wave-2 market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669280"/>
            <a:ext cx="10972800" cy="347472"/>
          </a:xfrm>
          <a:prstGeom prst="rect">
            <a:avLst/>
          </a:prstGeom>
          <a:solidFill>
            <a:srgbClr val="F7EFE6"/>
          </a:solidFill>
          <a:ln>
            <a:solidFill>
              <a:srgbClr val="B65A34"/>
            </a:solidFill>
          </a:ln>
        </p:spPr>
        <p:txBody>
          <a:bodyPr wrap="square" lIns="128016" tIns="128016" rIns="128016" bIns="128016" anchor="t">
            <a:spAutoFit/>
          </a:bodyPr>
          <a:lstStyle/>
          <a:p>
            <a:pPr algn="l">
              <a:defRPr sz="1250" b="1">
                <a:solidFill>
                  <a:srgbClr val="C2410C"/>
                </a:solidFill>
                <a:latin typeface="Segoe UI"/>
              </a:defRPr>
            </a:pPr>
            <a:r>
              <a:rPr sz="1150" b="1" i="1">
                <a:solidFill>
                  <a:srgbClr val="B65A34"/>
                </a:solidFill>
                <a:latin typeface="Georgia"/>
              </a:rPr>
              <a:t>My line in the sand: if D30 is still below 7% by the end of Q3, I would revisit a broader pivot.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Sources: Own roadmap recommendation.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Segoe UI Semibold"/>
              </a:defRPr>
            </a:pPr>
            <a:r>
              <a:rPr sz="2500" b="1">
                <a:solidFill>
                  <a:srgbClr val="1F2937"/>
                </a:solidFill>
                <a:latin typeface="Georgia"/>
              </a:rPr>
              <a:t>Numbers I'd refuse to ignore before scaling again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24128"/>
            <a:ext cx="1005840" cy="73152"/>
          </a:xfrm>
          <a:prstGeom prst="round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812280" y="1737360"/>
            <a:ext cx="4617720" cy="109728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812280" y="1737360"/>
            <a:ext cx="73152" cy="109728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958584" y="1847088"/>
            <a:ext cx="4416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 sz="1250" b="1">
                <a:solidFill>
                  <a:srgbClr val="1F2937"/>
                </a:solidFill>
                <a:latin typeface="Aptos"/>
              </a:rPr>
              <a:t>Why these gates matter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58584" y="2167128"/>
            <a:ext cx="43982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They force the team to prove product value before buying more top-of-funnel volume.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12280" y="3017520"/>
            <a:ext cx="4617720" cy="109728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812280" y="3017520"/>
            <a:ext cx="73152" cy="109728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958584" y="3127248"/>
            <a:ext cx="4416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 sz="1250" b="1">
                <a:solidFill>
                  <a:srgbClr val="1F2937"/>
                </a:solidFill>
                <a:latin typeface="Aptos"/>
              </a:rPr>
              <a:t>Economic rule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58584" y="3447288"/>
            <a:ext cx="43982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Paid LTV / CAC should move above about 1.3x before spend increases materially; healthy state is 1.5x or better.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12280" y="4297680"/>
            <a:ext cx="4617720" cy="109728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812280" y="4297680"/>
            <a:ext cx="73152" cy="109728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58584" y="4407408"/>
            <a:ext cx="4416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 sz="1250" b="1">
                <a:solidFill>
                  <a:srgbClr val="1F2937"/>
                </a:solidFill>
                <a:latin typeface="Aptos"/>
              </a:rPr>
              <a:t>Decision rule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58584" y="4727448"/>
            <a:ext cx="43982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All operating gates should clear for 2 consecutive months before paid budgets go back up.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Sources: Own thresholds built from current baselines and simplified unit economics.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642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12</a:t>
            </a:r>
          </a:p>
        </p:txBody>
      </p:sp>
      <p:pic>
        <p:nvPicPr>
          <p:cNvPr id="61" name="Picture 60" descr="threshold_g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5897880" cy="2881829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7818120" y="5394960"/>
            <a:ext cx="2377440" cy="658368"/>
          </a:xfrm>
          <a:prstGeom prst="rect">
            <a:avLst/>
          </a:prstGeom>
          <a:solidFill>
            <a:srgbClr val="F7EFE6"/>
          </a:solidFill>
          <a:ln>
            <a:solidFill>
              <a:srgbClr val="B65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91272" y="5449824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B65A34"/>
                </a:solidFill>
                <a:latin typeface="Georgia"/>
              </a:defRPr>
            </a:pPr>
            <a:r>
              <a:t>No cleared gates = no extra spend.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Segoe UI Semibold"/>
              </a:defRPr>
            </a:pPr>
            <a:r>
              <a:rPr sz="2400" b="1">
                <a:solidFill>
                  <a:srgbClr val="1F2937"/>
                </a:solidFill>
                <a:latin typeface="Georgia"/>
              </a:rPr>
              <a:t>What success should feel like,</a:t>
            </a:r>
          </a:p>
          <a:p>
            <a:r>
              <a:rPr sz="2400" b="1">
                <a:solidFill>
                  <a:srgbClr val="1F2937"/>
                </a:solidFill>
                <a:latin typeface="Georgia"/>
              </a:rPr>
              <a:t>not just look like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24128"/>
            <a:ext cx="1005840" cy="73152"/>
          </a:xfrm>
          <a:prstGeom prst="round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074920" cy="160020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73152" cy="160020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572768"/>
            <a:ext cx="4873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User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892808"/>
            <a:ext cx="4855464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D30 is back above 8%, ratings recover, and complaints about missing basics start fading.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074920" cy="160020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73152" cy="160020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72784" y="1572768"/>
            <a:ext cx="4873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Growth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784" y="1892808"/>
            <a:ext cx="4855464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Organic share rises, paid dependence falls, and channel decisions get cleaner.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29000"/>
            <a:ext cx="5074920" cy="160020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429000"/>
            <a:ext cx="73152" cy="160020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3538728"/>
            <a:ext cx="4873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Revenue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858768"/>
            <a:ext cx="4855464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Lower churn and better trial conversion lift MRR without forcing a risky price cut.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429000"/>
            <a:ext cx="5074920" cy="160020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3429000"/>
            <a:ext cx="73152" cy="160020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72784" y="3538728"/>
            <a:ext cx="4873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Team cadence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3858768"/>
            <a:ext cx="4855464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Product, growth and support work from the same weekly scorecard instead of chasing disconnected fixes.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68980" y="5248656"/>
            <a:ext cx="5074920" cy="160020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68980" y="5248656"/>
            <a:ext cx="73152" cy="160020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15284" y="5358384"/>
            <a:ext cx="4873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 sz="1250" b="1">
                <a:solidFill>
                  <a:srgbClr val="1F2937"/>
                </a:solidFill>
                <a:latin typeface="Aptos"/>
              </a:rPr>
              <a:t>Strategic option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5284" y="5678424"/>
            <a:ext cx="4855464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 sz="1100">
                <a:solidFill>
                  <a:srgbClr val="1F2937"/>
                </a:solidFill>
                <a:latin typeface="Aptos"/>
              </a:rPr>
              <a:t>Management can keep compounding the recovery or pivot later from a position of strength, not panic.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Segoe UI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Sources: Own risk assessment.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Segoe UI Semibold"/>
              </a:defRPr>
            </a:pPr>
            <a:r>
              <a:rPr sz="2500" b="1">
                <a:solidFill>
                  <a:srgbClr val="1F2937"/>
                </a:solidFill>
                <a:latin typeface="Georgia"/>
              </a:rPr>
              <a:t>Selected 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24128"/>
            <a:ext cx="1005840" cy="73152"/>
          </a:xfrm>
          <a:prstGeom prst="round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5074920" cy="425196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591056"/>
            <a:ext cx="4873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Sources (titles)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11096"/>
            <a:ext cx="4855464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1F2937"/>
                </a:solidFill>
                <a:latin typeface="Aptos"/>
              </a:rPr>
              <a:t>1. Mordor Intelligence - task management market</a:t>
            </a:r>
          </a:p>
          <a:p>
            <a:r>
              <a:rPr>
                <a:solidFill>
                  <a:srgbClr val="1F2937"/>
                </a:solidFill>
                <a:latin typeface="Aptos"/>
              </a:rPr>
              <a:t>2. TechCrunch on Sensor Tower State of Mobile 2026</a:t>
            </a:r>
          </a:p>
          <a:p>
            <a:r>
              <a:rPr>
                <a:solidFill>
                  <a:srgbClr val="1F2937"/>
                </a:solidFill>
                <a:latin typeface="Aptos"/>
              </a:rPr>
              <a:t>3. Todoist template gallery</a:t>
            </a:r>
          </a:p>
          <a:p>
            <a:r>
              <a:rPr>
                <a:solidFill>
                  <a:srgbClr val="1F2937"/>
                </a:solidFill>
                <a:latin typeface="Aptos"/>
              </a:rPr>
              <a:t>4. Todoist pricing update 2025</a:t>
            </a:r>
          </a:p>
          <a:p>
            <a:r>
              <a:rPr>
                <a:solidFill>
                  <a:srgbClr val="1F2937"/>
                </a:solidFill>
                <a:latin typeface="Aptos"/>
              </a:rPr>
              <a:t>5. TickTick upgrade page</a:t>
            </a:r>
          </a:p>
          <a:p>
            <a:r>
              <a:rPr>
                <a:solidFill>
                  <a:srgbClr val="1F2937"/>
                </a:solidFill>
                <a:latin typeface="Aptos"/>
              </a:rPr>
              <a:t>6. TickTick ambassador program</a:t>
            </a:r>
          </a:p>
          <a:p>
            <a:r>
              <a:rPr>
                <a:solidFill>
                  <a:srgbClr val="1F2937"/>
                </a:solidFill>
                <a:latin typeface="Aptos"/>
              </a:rPr>
              <a:t>7. Any.do pricing and Spaces</a:t>
            </a:r>
          </a:p>
          <a:p>
            <a:r>
              <a:rPr>
                <a:solidFill>
                  <a:srgbClr val="1F2937"/>
                </a:solidFill>
                <a:latin typeface="Aptos"/>
              </a:rPr>
              <a:t>8. Microsoft To Do with Outlook Tasks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481328"/>
            <a:ext cx="5577840" cy="4251960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591056"/>
            <a:ext cx="5376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Links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35624" y="1911096"/>
            <a:ext cx="5358384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1F2937"/>
                </a:solidFill>
                <a:latin typeface="Aptos"/>
              </a:rPr>
              <a:t>https://www.mordorintelligence.com/industry-reports/task-management-software-market</a:t>
            </a:r>
          </a:p>
          <a:p>
            <a:r>
              <a:rPr>
                <a:solidFill>
                  <a:srgbClr val="1F2937"/>
                </a:solidFill>
                <a:latin typeface="Aptos"/>
              </a:rPr>
              <a:t>https://techcrunch.com/2026/01/21/consumers-spent-more-on-mobile-apps-than-games-in-2025-driven-by-ai-app-adoption/</a:t>
            </a:r>
          </a:p>
          <a:p>
            <a:r>
              <a:rPr>
                <a:solidFill>
                  <a:srgbClr val="1F2937"/>
                </a:solidFill>
                <a:latin typeface="Aptos"/>
              </a:rPr>
              <a:t>https://www.todoist.com/templates/getting-things-done</a:t>
            </a:r>
          </a:p>
          <a:p>
            <a:r>
              <a:rPr>
                <a:solidFill>
                  <a:srgbClr val="1F2937"/>
                </a:solidFill>
                <a:latin typeface="Aptos"/>
              </a:rPr>
              <a:t>https://www.todoist.com/help/articles/todoist-pricing-and-plans-update-2025-everything-you-need-to-know-Tn6Pg1JKI</a:t>
            </a:r>
          </a:p>
          <a:p>
            <a:r>
              <a:rPr>
                <a:solidFill>
                  <a:srgbClr val="1F2937"/>
                </a:solidFill>
                <a:latin typeface="Aptos"/>
              </a:rPr>
              <a:t>https://ticktick.com/upgrade</a:t>
            </a:r>
          </a:p>
          <a:p>
            <a:r>
              <a:rPr>
                <a:solidFill>
                  <a:srgbClr val="1F2937"/>
                </a:solidFill>
                <a:latin typeface="Aptos"/>
              </a:rPr>
              <a:t>https://ticktick.com/ambassador_program</a:t>
            </a:r>
          </a:p>
          <a:p>
            <a:r>
              <a:rPr>
                <a:solidFill>
                  <a:srgbClr val="1F2937"/>
                </a:solidFill>
                <a:latin typeface="Aptos"/>
              </a:rPr>
              <a:t>https://www.any.do/pricing</a:t>
            </a:r>
          </a:p>
          <a:p>
            <a:r>
              <a:rPr>
                <a:solidFill>
                  <a:srgbClr val="1F2937"/>
                </a:solidFill>
                <a:latin typeface="Aptos"/>
              </a:rPr>
              <a:t>https://support.microsoft.com/en-us/office/using-microsoft-to-do-with-outlook-tasks-c7a0253d-b8cc-4054-b94b-c194e0e5308a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486400"/>
            <a:ext cx="10927080" cy="859536"/>
          </a:xfrm>
          <a:prstGeom prst="roundRect">
            <a:avLst/>
          </a:prstGeom>
          <a:solidFill>
            <a:srgbClr val="FFFDF9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5486400"/>
            <a:ext cx="73152" cy="685800"/>
          </a:xfrm>
          <a:prstGeom prst="rect">
            <a:avLst/>
          </a:prstGeom>
          <a:solidFill>
            <a:srgbClr val="B6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3" y="5596128"/>
            <a:ext cx="14164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/>
                <a:latin typeface="Segoe UI"/>
              </a:defRPr>
            </a:pPr>
            <a:r>
              <a:rPr sz="1250" b="1">
                <a:solidFill>
                  <a:srgbClr val="1F2937"/>
                </a:solidFill>
                <a:latin typeface="Aptos"/>
              </a:rPr>
              <a:t>Why this version feels different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86384" y="5916168"/>
            <a:ext cx="107076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2937"/>
                </a:solidFill>
                <a:latin typeface="Segoe UI"/>
              </a:defRPr>
            </a:pPr>
            <a:r>
              <a:rPr sz="1100">
                <a:solidFill>
                  <a:srgbClr val="1F2937"/>
                </a:solidFill>
                <a:latin typeface="Aptos"/>
              </a:rPr>
              <a:t>It is less about describing the problem and more about showing what I would do next, what numbers I would watch, and when I would refuse to scale.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41448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1F2937"/>
                </a:solidFill>
                <a:latin typeface="Aptos"/>
              </a:rPr>
              <a:t>Sources: Official market and competitor pages used in the revised deck.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Segoe UI Semibold"/>
              </a:defRPr>
            </a:pPr>
            <a:r>
              <a:rPr>
                <a:solidFill>
                  <a:srgbClr val="1F2937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2671</Words>
  <Application>Microsoft Office PowerPoint</Application>
  <PresentationFormat>Widescreen</PresentationFormat>
  <Paragraphs>326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Kolisnyk Oksana</dc:creator>
  <cp:keywords/>
  <dc:description>generated using python-pptx</dc:description>
  <cp:lastModifiedBy>Kolisnyk Oksana</cp:lastModifiedBy>
  <cp:revision>13</cp:revision>
  <dcterms:created xsi:type="dcterms:W3CDTF">2013-01-27T09:14:16Z</dcterms:created>
  <dcterms:modified xsi:type="dcterms:W3CDTF">2026-03-23T16:52:24Z</dcterms:modified>
  <cp:category/>
</cp:coreProperties>
</file>