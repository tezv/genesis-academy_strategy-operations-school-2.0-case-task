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3" autoAdjust="0"/>
    <p:restoredTop sz="88188" autoAdjust="0"/>
  </p:normalViewPr>
  <p:slideViewPr>
    <p:cSldViewPr snapToGrid="0" snapToObjects="1">
      <p:cViewPr varScale="1">
        <p:scale>
          <a:sx n="69" d="100"/>
          <a:sy n="69" d="100"/>
        </p:scale>
        <p:origin x="372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A6344B-C0EF-4530-9BF6-D6F784C1035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399A4D-FE88-43C6-9A79-F3950580EC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24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t>0:00-0:20</a:t>
            </a:r>
            <a:endParaRPr lang="en-US" b="0" dirty="0">
              <a:effectLst/>
            </a:endParaRPr>
          </a:p>
          <a:p>
            <a:r>
              <a:t>Hi, my name is Oksana, and today I will briefly present my solution for the TaskFlow case.</a:t>
            </a:r>
          </a:p>
          <a:p/>
          <a:p>
            <a:r>
              <a:t>I will explain the main reason behind TaskFlow's decline, the market and competitor context, and the strategy I would recommend for the next 12 months.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399A4D-FE88-43C6-9A79-F3950580EC0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37499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0:20-0:40</a:t>
            </a:r>
          </a:p>
          <a:p>
            <a:r>
              <a:t>TaskFlow's problem is not a shrinking market.</a:t>
            </a:r>
          </a:p>
          <a:p>
            <a:r>
              <a:t>The main issue is weakening product-market fit, together with lower retention, higher churn, and weaker differentiation.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0:40-1:00</a:t>
            </a:r>
          </a:p>
          <a:p>
            <a:r>
              <a:t>In 2025, all core business metrics declined.</a:t>
            </a:r>
          </a:p>
          <a:p>
            <a:r>
              <a:t>Downloads, monthly active users, and monthly recurring revenue fell, while cost per install increased, so the product is shrinking and growth is getting more expensive.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1:00-1:20</a:t>
            </a:r>
          </a:p>
          <a:p>
            <a:r>
              <a:t>I diagnose this primarily as a product and positioning problem.</a:t>
            </a:r>
          </a:p>
          <a:p>
            <a:r>
              <a:t>The strongest evidence is retention decline, lower ratings, weak product freshness, and clearer competitor advantage.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1:20-1:45</a:t>
            </a:r>
          </a:p>
          <a:p>
            <a:r>
              <a:t>This slide shows why paid acquisition is not the answer right now.</a:t>
            </a:r>
          </a:p>
          <a:p>
            <a:r>
              <a:t>Customer acquisition cost is now almost equal to lifetime value, so the company should improve product value before scaling growth.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1:45-2:05</a:t>
            </a:r>
          </a:p>
          <a:p>
            <a:r>
              <a:t>The market is still attractive, so I would not recommend leaving productivity.</a:t>
            </a:r>
          </a:p>
          <a:p>
            <a:r>
              <a:t>However, TaskFlow needs a sharper niche, and the strongest fit is calendar-first planning for young professionals, freelancers, and duos.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2:05-2:25</a:t>
            </a:r>
          </a:p>
          <a:p>
            <a:r>
              <a:t>Here I compare TaskFlow with Todoist, TickTick, Any.do, and Microsoft To Do.</a:t>
            </a:r>
          </a:p>
          <a:p>
            <a:r>
              <a:t>The benchmark shows that competitors are stronger in collaboration, product maturity, and distribution.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2:25-2:45</a:t>
            </a:r>
          </a:p>
          <a:p>
            <a:r>
              <a:t>TaskFlow should not try to out-feature everyone.</a:t>
            </a:r>
          </a:p>
          <a:p>
            <a:r>
              <a:t>Instead, it should focus on a narrower and cleaner use case where it can realistically compete.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2:45-3:10</a:t>
            </a:r>
          </a:p>
          <a:p>
            <a:r>
              <a:t>I considered three options: a focused turnaround, an AI-first pivot, and growth expansion into lower-cost segments.</a:t>
            </a:r>
          </a:p>
          <a:p>
            <a:r>
              <a:t>The first option is the most realistic and highest-probability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3:10-3:35</a:t>
            </a:r>
          </a:p>
          <a:p>
            <a:r>
              <a:t>My recommendation is a turnaround strategy, not a full pivot.</a:t>
            </a:r>
          </a:p>
          <a:p>
            <a:r>
              <a:t>TaskFlow should reposition itself as a calendar-first planner and improve its core workflow, collaboration, packaging, and growth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3:35-3:55</a:t>
            </a:r>
          </a:p>
          <a:p>
            <a:r>
              <a:t>The roadmap starts with stabilization, then differentiation, then selective AI features, and only after that scaling.</a:t>
            </a:r>
          </a:p>
          <a:p>
            <a:r>
              <a:t>The sequence matters because retention must improve before growth spend increases.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3:55-4:15</a:t>
            </a:r>
          </a:p>
          <a:p>
            <a:r>
              <a:t>Success should be measured not only by top-of-funnel growth, but by stronger product value.</a:t>
            </a:r>
          </a:p>
          <a:p>
            <a:r>
              <a:t>My target metrics are better retention, lower churn, higher organic share, and monthly recurring revenue recovery over 12 months.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4:15-4:30</a:t>
            </a:r>
          </a:p>
          <a:p>
            <a:r>
              <a:t>I also included the main execution risks, including team bandwidth, competitive pressure, AI risk, runway pressure, and distraction from low-value markets.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4:30-4:50</a:t>
            </a:r>
          </a:p>
          <a:p>
            <a:r>
              <a:t>So overall, my conclusion is simple:</a:t>
            </a:r>
          </a:p>
          <a:p>
            <a:r>
              <a:t>TaskFlow should stay in the productivity category, avoid a risky full pivot for now, and focus on restoring product value, sharper positioning, and more efficient growth.</a:t>
            </a:r>
          </a:p>
          <a:p/>
          <a:p>
            <a:r>
              <a:t>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mordorintelligence.com/industry-reports/task-management-software-market" TargetMode="External"/><Relationship Id="rId3" Type="http://schemas.openxmlformats.org/officeDocument/2006/relationships/hyperlink" Target="https://techcrunch.com/2026/01/21/consumers-spent-more-on-mobile-apps-than-games-in-2025-driven-by-ai-app-adoption/" TargetMode="External"/><Relationship Id="rId4" Type="http://schemas.openxmlformats.org/officeDocument/2006/relationships/hyperlink" Target="https://www.gartner.com/en/newsroom/press-releases/2025-01-15-gartner-predicts-mobile-app-usage-will-decrease-25-percent-due-to-ai-assistants-by-2027" TargetMode="External"/><Relationship Id="rId5" Type="http://schemas.openxmlformats.org/officeDocument/2006/relationships/hyperlink" Target="https://www.gartner.com/en/newsroom/press-releases/2025-08-26-gartner-predicts-40-percent-of-enterprise-apps-will-feature-task-specific-ai-agents-by-2026-up-from-less-than-5-percent-in-2025" TargetMode="External"/><Relationship Id="rId6" Type="http://schemas.openxmlformats.org/officeDocument/2006/relationships/hyperlink" Target="https://www.todoist.com/pricing" TargetMode="External"/><Relationship Id="rId7" Type="http://schemas.openxmlformats.org/officeDocument/2006/relationships/hyperlink" Target="https://www.todoist.com/help/articles/todoist-pro-plan-pricing-update-bxBvHZuJZ" TargetMode="External"/><Relationship Id="rId8" Type="http://schemas.openxmlformats.org/officeDocument/2006/relationships/hyperlink" Target="https://play.google.com/store/apps/details?id=com.todoist&amp;hl=en&amp;gl=US" TargetMode="External"/><Relationship Id="rId9" Type="http://schemas.openxmlformats.org/officeDocument/2006/relationships/hyperlink" Target="https://ticktick.com/upgrade" TargetMode="External"/><Relationship Id="rId10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006840" y="0"/>
            <a:ext cx="3184855" cy="685800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64951"/>
            <a:ext cx="7863840" cy="1089529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r>
              <a:rPr sz="3600" b="1" dirty="0" err="1"/>
              <a:t>TaskFlow</a:t>
            </a:r>
            <a:br>
              <a:rPr lang="uk-UA" b="1" dirty="0"/>
            </a:br>
            <a:r>
              <a:rPr dirty="0"/>
              <a:t>how to stop the decline and restore growth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828800"/>
            <a:ext cx="7132320" cy="640080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Segoe UI"/>
              </a:defRPr>
            </a:pPr>
            <a:r>
              <a:t>Genesis Strategy &amp; Operations School 2.0</a:t>
            </a:r>
          </a:p>
          <a:p>
            <a:pPr algn="l">
              <a:defRPr sz="1400" b="0">
                <a:solidFill>
                  <a:srgbClr val="6B7280"/>
                </a:solidFill>
                <a:latin typeface="Segoe UI"/>
              </a:defRPr>
            </a:pPr>
            <a:r>
              <a:t>Case Task | March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743200"/>
            <a:ext cx="5455920" cy="141732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2852928"/>
            <a:ext cx="187718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dirty="0"/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3172968"/>
            <a:ext cx="545592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Do not run a full pivot now.</a:t>
            </a:r>
          </a:p>
          <a:p>
            <a:r>
              <a:rPr dirty="0"/>
              <a:t>Narrow the positioning, fix retention, and build around calendar-first planning plus micro-collaboration.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434840"/>
            <a:ext cx="5455920" cy="1234440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4434840"/>
            <a:ext cx="73152" cy="123444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4544568"/>
            <a:ext cx="50109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Loom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4864608"/>
            <a:ext cx="5455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https://www.loom.com/share/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914400"/>
            <a:ext cx="2286000" cy="365760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ctr">
              <a:defRPr sz="1200" b="1">
                <a:solidFill>
                  <a:srgbClr val="FFF0E8"/>
                </a:solidFill>
                <a:latin typeface="Segoe UI"/>
              </a:defRPr>
            </a:pPr>
            <a:r>
              <a:t>Prepared by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1234440"/>
            <a:ext cx="2651760" cy="822960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ctr">
              <a:defRPr sz="2200" b="1">
                <a:solidFill>
                  <a:srgbClr val="FFFDFC"/>
                </a:solidFill>
                <a:latin typeface="Segoe UI"/>
              </a:defRPr>
            </a:pPr>
            <a:r>
              <a:t>Oksana Kolisnyk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2286000"/>
            <a:ext cx="2560320" cy="1554480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FFFDFC"/>
                </a:solidFill>
                <a:latin typeface="Segoe UI"/>
              </a:defRPr>
            </a:pPr>
            <a:r>
              <a:t>Included in folder:</a:t>
            </a:r>
          </a:p>
          <a:p>
            <a:pPr algn="l">
              <a:defRPr sz="1200" b="0">
                <a:solidFill>
                  <a:srgbClr val="FFFDFC"/>
                </a:solidFill>
                <a:latin typeface="Segoe UI"/>
              </a:defRPr>
            </a:pPr>
            <a:r>
              <a:t>- ready PPTX</a:t>
            </a:r>
          </a:p>
          <a:p>
            <a:pPr algn="l">
              <a:defRPr sz="1200" b="0">
                <a:solidFill>
                  <a:srgbClr val="FFFDFC"/>
                </a:solidFill>
                <a:latin typeface="Segoe UI"/>
              </a:defRPr>
            </a:pPr>
            <a:r>
              <a:t>- XLSX with calculations</a:t>
            </a:r>
          </a:p>
          <a:p>
            <a:pPr algn="l">
              <a:defRPr sz="1200" b="0">
                <a:solidFill>
                  <a:srgbClr val="FFFDFC"/>
                </a:solidFill>
                <a:latin typeface="Segoe UI"/>
              </a:defRPr>
            </a:pPr>
            <a:r>
              <a:t>- sources log</a:t>
            </a:r>
          </a:p>
          <a:p>
            <a:pPr algn="l">
              <a:defRPr sz="1200" b="0">
                <a:solidFill>
                  <a:srgbClr val="FFFDFC"/>
                </a:solidFill>
                <a:latin typeface="Segoe UI"/>
              </a:defRPr>
            </a:pPr>
            <a:r>
              <a:t>- 5-minute Loom talk track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20" y="5303520"/>
            <a:ext cx="2651760" cy="594360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ctr">
              <a:defRPr sz="1600" b="1">
                <a:solidFill>
                  <a:srgbClr val="FFFDFC"/>
                </a:solidFill>
                <a:latin typeface="Segoe UI"/>
              </a:defRPr>
            </a:pPr>
            <a:r>
              <a:t>Main recommendation:</a:t>
            </a:r>
          </a:p>
          <a:p>
            <a:pPr algn="ctr">
              <a:defRPr sz="1600" b="1">
                <a:solidFill>
                  <a:srgbClr val="FFFDFC"/>
                </a:solidFill>
                <a:latin typeface="Segoe UI"/>
              </a:defRPr>
            </a:pPr>
            <a:r>
              <a:t>Turnaround, not full pivot.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Task brief and own analysis.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Executive summary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6B7280"/>
                </a:solidFill>
                <a:latin typeface="Segoe UI"/>
              </a:defRPr>
            </a:pPr>
            <a:r>
              <a:t>The market is still growing. TaskFlow is losing relevance inside that market.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08760"/>
            <a:ext cx="5486400" cy="141732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508760"/>
            <a:ext cx="73152" cy="141732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6384" y="1618488"/>
            <a:ext cx="52852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What is broken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1938528"/>
            <a:ext cx="5266944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The strongest signal is retention erosion: D30 fell from 12.0% to 5.0%, D90 from 6.5% to 2.3%, and paid churn rose to 18%. Acquisition can no longer cover weak product value.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257800" cy="141732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309360" y="1508760"/>
            <a:ext cx="73152" cy="141732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55664" y="1618488"/>
            <a:ext cx="50566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What caused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1938528"/>
            <a:ext cx="5038344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No major feature release in 8 months, declining store rating, weak collaboration, no offline mode, repetitive UI, and limited web parity while competitors kept shipping.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154680"/>
            <a:ext cx="5486400" cy="141732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" y="3154680"/>
            <a:ext cx="73152" cy="141732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6384" y="3264408"/>
            <a:ext cx="52852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Why urgency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584448"/>
            <a:ext cx="5266944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Downloads and MAU fell 42% in 2025, CPI rose 44%, and burn is ~$150k per month vs $60k MRR.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154680"/>
            <a:ext cx="5257800" cy="1417320"/>
          </a:xfrm>
          <a:prstGeom prst="roundRect">
            <a:avLst/>
          </a:prstGeom>
          <a:solidFill>
            <a:srgbClr val="E9F8EE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09360" y="3154680"/>
            <a:ext cx="73152" cy="141732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55664" y="3264408"/>
            <a:ext cx="50566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Recommendation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3584448"/>
            <a:ext cx="5038344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Reposition TaskFlow as a calendar-first planner for young professionals, freelancers and duos. Fix core workflow first, add lightweight AI second, and reduce inefficient paid UA until retention improves.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983480"/>
            <a:ext cx="10972800" cy="594360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700" b="1">
                <a:solidFill>
                  <a:srgbClr val="1F2937"/>
                </a:solidFill>
                <a:latin typeface="Segoe UI"/>
              </a:defRPr>
            </a:pPr>
            <a:r>
              <a:t>12-month objective: stabilize MAU by month 6, recover organic share, and bring MRR back to $78k-$85k without a full-scale pivot.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Task brief; own calculations; Mordor; Gartner; competitor public pages.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2025 performance collapsed across every core metric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7132320" cy="362905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46720" y="1572768"/>
            <a:ext cx="3291840" cy="868680"/>
          </a:xfrm>
          <a:prstGeom prst="roundRect">
            <a:avLst/>
          </a:prstGeom>
          <a:solidFill>
            <a:srgbClr val="FEECEC"/>
          </a:solidFill>
          <a:ln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046720" y="1572768"/>
            <a:ext cx="73152" cy="86868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193024" y="1682496"/>
            <a:ext cx="30906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Downloads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3024" y="2002536"/>
            <a:ext cx="307238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48k -&gt; 28k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-42%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624328"/>
            <a:ext cx="3291840" cy="868680"/>
          </a:xfrm>
          <a:prstGeom prst="roundRect">
            <a:avLst/>
          </a:prstGeom>
          <a:solidFill>
            <a:srgbClr val="FEECEC"/>
          </a:solidFill>
          <a:ln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046720" y="2624328"/>
            <a:ext cx="73152" cy="86868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93024" y="2734056"/>
            <a:ext cx="30906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MAU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3024" y="3054096"/>
            <a:ext cx="307238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180k -&gt; 105k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-42%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3675887"/>
            <a:ext cx="3291840" cy="868680"/>
          </a:xfrm>
          <a:prstGeom prst="roundRect">
            <a:avLst/>
          </a:prstGeom>
          <a:solidFill>
            <a:srgbClr val="FFF7D6"/>
          </a:solidFill>
          <a:ln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46720" y="3675887"/>
            <a:ext cx="73152" cy="86868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93024" y="3785615"/>
            <a:ext cx="30906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MRR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3024" y="4105655"/>
            <a:ext cx="307238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$86.4k -&gt; $60.0k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-31%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27448"/>
            <a:ext cx="3291840" cy="868680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46720" y="4727448"/>
            <a:ext cx="73152" cy="86868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93024" y="4837176"/>
            <a:ext cx="30906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Avg CPI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5157216"/>
            <a:ext cx="307238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$1.80 -&gt; $2.60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+44%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Task brief dataset; own calculations.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94274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Diagnosis: this is primarily a product + positioning problem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2743200" cy="4297680"/>
          </a:xfrm>
          <a:prstGeom prst="roundRect">
            <a:avLst/>
          </a:prstGeom>
          <a:solidFill>
            <a:srgbClr val="FEECEC"/>
          </a:solidFill>
          <a:ln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73152" cy="429768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572768"/>
            <a:ext cx="25420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1. Retention broke first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892808"/>
            <a:ext cx="2523744" cy="376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Every cohort got weaker.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D30 fell 58% and D90 fell 65% vs Q1 2024.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That points to lower repeat value, not just weaker top-of-funnel.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11880" y="1463040"/>
            <a:ext cx="2743200" cy="4297680"/>
          </a:xfrm>
          <a:prstGeom prst="roundRect">
            <a:avLst/>
          </a:prstGeom>
          <a:solidFill>
            <a:srgbClr val="FFF7D6"/>
          </a:solidFill>
          <a:ln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11880" y="1463040"/>
            <a:ext cx="73152" cy="429768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58184" y="1572768"/>
            <a:ext cx="25420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2. Product freshness is weak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58184" y="1892808"/>
            <a:ext cx="2523744" cy="376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Store rating dropped from 4.6 to 4.2.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Public complaints: limited collaboration, no offline mode, repetitive UI.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Last major feature release was 8 months ago.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1463040"/>
            <a:ext cx="2423160" cy="4297680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83680" y="1463040"/>
            <a:ext cx="73152" cy="429768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29984" y="1572768"/>
            <a:ext cx="22219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3. UA became inefficient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9984" y="1892808"/>
            <a:ext cx="2203704" cy="376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81% of installs come from paid channels.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62% come from Meta alone.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Organic share is shrinking while paid CPI rises.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1463040"/>
            <a:ext cx="2331720" cy="4297680"/>
          </a:xfrm>
          <a:prstGeom prst="roundRect">
            <a:avLst/>
          </a:prstGeom>
          <a:solidFill>
            <a:srgbClr val="E8F0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235440" y="1463040"/>
            <a:ext cx="73152" cy="4297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81744" y="1572768"/>
            <a:ext cx="2130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4. Geo mix hurts scale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81744" y="1892808"/>
            <a:ext cx="2112264" cy="376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Best-monetizing markets are shrinking.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Other markets are 29% of MAU but only 10% of revenue.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Cheap growth there will not offset value loss in the US.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Task brief dataset; public review themes from case prompt.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058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 dirty="0"/>
              <a:t>Unit economics show why scaling paid UA now is dangerous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reten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46260"/>
            <a:ext cx="4389120" cy="2582399"/>
          </a:xfrm>
          <a:prstGeom prst="rect">
            <a:avLst/>
          </a:prstGeom>
        </p:spPr>
      </p:pic>
      <p:pic>
        <p:nvPicPr>
          <p:cNvPr id="5" name="Picture 4" descr="geo_m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926101"/>
            <a:ext cx="4754880" cy="268375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577840" y="1572768"/>
            <a:ext cx="2606040" cy="1097280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577840" y="1572768"/>
            <a:ext cx="73152" cy="109728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724144" y="1682496"/>
            <a:ext cx="24048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Approx. paid CAC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24144" y="2002536"/>
            <a:ext cx="238658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$26.5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= $2.60 / 9.8%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66760" y="1572768"/>
            <a:ext cx="2606040" cy="1097280"/>
          </a:xfrm>
          <a:prstGeom prst="roundRect">
            <a:avLst/>
          </a:prstGeom>
          <a:solidFill>
            <a:srgbClr val="E9F8EE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366760" y="1572768"/>
            <a:ext cx="73152" cy="109728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13064" y="1682496"/>
            <a:ext cx="24048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Approx. paid LTV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13064" y="2002536"/>
            <a:ext cx="238658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$26.7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= $4.80 / 18%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2880360"/>
            <a:ext cx="5394960" cy="1143000"/>
          </a:xfrm>
          <a:prstGeom prst="roundRect">
            <a:avLst/>
          </a:prstGeom>
          <a:solidFill>
            <a:srgbClr val="FEECEC"/>
          </a:solidFill>
          <a:ln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577840" y="2880360"/>
            <a:ext cx="73152" cy="114300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24144" y="2990088"/>
            <a:ext cx="51937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Implication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24144" y="3310128"/>
            <a:ext cx="5175504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At current conversion and churn, a newly acquired payer barely covers expected subscription value before platform fees, fixed costs and reactivation spend.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77840" y="4251960"/>
            <a:ext cx="5394960" cy="1188720"/>
          </a:xfrm>
          <a:prstGeom prst="roundRect">
            <a:avLst/>
          </a:prstGeom>
          <a:solidFill>
            <a:srgbClr val="FFF7D6"/>
          </a:solidFill>
          <a:ln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577840" y="4251960"/>
            <a:ext cx="73152" cy="118872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724144" y="4361688"/>
            <a:ext cx="51937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Secondary insight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24144" y="4681728"/>
            <a:ext cx="517550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LTV fell from roughly $48 in Q1 2024 to about $26.7 in Dec 2025. The monetization engine weakened because users churn faster.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62940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rPr dirty="0"/>
              <a:t>Sources: Task brief dataset; simplified LTV/CAC estimates using provided ARPPU, churn, CPI and free-to-paid conversion.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7899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 dirty="0"/>
              <a:t>The market is still attractive, but generic to-do apps are under pressure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481328"/>
            <a:ext cx="3703320" cy="1097280"/>
          </a:xfrm>
          <a:prstGeom prst="roundRect">
            <a:avLst/>
          </a:prstGeom>
          <a:solidFill>
            <a:srgbClr val="E9F8EE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73152" cy="109728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591056"/>
            <a:ext cx="35021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Task management market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911096"/>
            <a:ext cx="34838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Mordor estimates the task management software market at $1.27B in 2025, growing to $2.66B by 2031 (13.1% CAGR).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61488"/>
            <a:ext cx="3703320" cy="1097280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2761488"/>
            <a:ext cx="73152" cy="109728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2871216"/>
            <a:ext cx="35021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Mobile monetization trend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3191256"/>
            <a:ext cx="34838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Sensor Tower says non-game app spend reached about $85B in 2025, up 21% YoY. GenAI apps drove a large share of that growth.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041648"/>
            <a:ext cx="3703320" cy="1097280"/>
          </a:xfrm>
          <a:prstGeom prst="roundRect">
            <a:avLst/>
          </a:prstGeom>
          <a:solidFill>
            <a:srgbClr val="E8F0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" y="4041648"/>
            <a:ext cx="73152" cy="1097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6384" y="4151376"/>
            <a:ext cx="35021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Strategic implication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4471416"/>
            <a:ext cx="34838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The right move is not to leave productivity. It is to choose a sharper niche where TaskFlow can win with its current team and runway.</a:t>
            </a:r>
          </a:p>
        </p:txBody>
      </p:sp>
      <p:pic>
        <p:nvPicPr>
          <p:cNvPr id="16" name="Picture 15" descr="niche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508760"/>
            <a:ext cx="6812280" cy="481401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Mordor Intelligence; TechCrunch on Sensor Tower State of Mobile 2026; Gartner AI predictions.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Competitor benchmark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2057400" cy="4526280"/>
          </a:xfrm>
          <a:prstGeom prst="roundRect">
            <a:avLst/>
          </a:prstGeom>
          <a:solidFill>
            <a:srgbClr val="FEECEC"/>
          </a:solidFill>
          <a:ln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73152" cy="452628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664208"/>
            <a:ext cx="18562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TaskFlow today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984248"/>
            <a:ext cx="1837944" cy="3995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Price: $5.99/mo or $39.99/yr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Positioning: generic personal productivity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Main gaps: weak collaboration, no offline mode, stale UX, weak web parity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Signal: 105k MAU, 4.2 rating, no major release in 8 months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1554480"/>
            <a:ext cx="3977639" cy="2057400"/>
          </a:xfrm>
          <a:prstGeom prst="roundRect">
            <a:avLst/>
          </a:prstGeom>
          <a:solidFill>
            <a:srgbClr val="E8F0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926080" y="1554480"/>
            <a:ext cx="73152" cy="2057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072384" y="1664208"/>
            <a:ext cx="377647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Todoist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2384" y="1984248"/>
            <a:ext cx="3758183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Price: $7/mo or $60/yr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Why stronger: templates, AI assist, calendar layout, deep integrations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Public signal: 4.6 rating, 297K reviews, 10M+ downloads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0" y="1554480"/>
            <a:ext cx="3977639" cy="2057400"/>
          </a:xfrm>
          <a:prstGeom prst="roundRect">
            <a:avLst/>
          </a:prstGeom>
          <a:solidFill>
            <a:srgbClr val="E9F8EE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132320" y="1554480"/>
            <a:ext cx="73152" cy="205740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278624" y="1664208"/>
            <a:ext cx="377647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TickTick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78624" y="1984248"/>
            <a:ext cx="3758183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Price: $35.99/yr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Why stronger: calendar + tasks + habits + Pomodoro in one product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Public signal: 4.6 rating, 157K reviews, 5M+ downloads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26080" y="3794760"/>
            <a:ext cx="3977639" cy="1828800"/>
          </a:xfrm>
          <a:prstGeom prst="roundRect">
            <a:avLst/>
          </a:prstGeom>
          <a:solidFill>
            <a:srgbClr val="FFF7D6"/>
          </a:solidFill>
          <a:ln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926080" y="3794760"/>
            <a:ext cx="73152" cy="182880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072384" y="3904488"/>
            <a:ext cx="377647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Any.do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4224528"/>
            <a:ext cx="3758183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Price: about $4.99 annual / $7.99 monthly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Why stronger: family + workspace flows, integrations, collaboration depth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Public signal: 4.4 rating, 503K reviews, 10M+ downloads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0" y="3794760"/>
            <a:ext cx="3977639" cy="1828800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132320" y="3794760"/>
            <a:ext cx="73152" cy="182880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278624" y="3904488"/>
            <a:ext cx="377647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Microsoft To 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78624" y="4224528"/>
            <a:ext cx="3758183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Price: free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Why stronger: ecosystem bundling with Microsoft / Outlook and zero-price entry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Public signal: 4.6 rating, 468K reviews, 10M+ downloads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011059"/>
            <a:ext cx="10972800" cy="320040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950" b="0">
                <a:solidFill>
                  <a:srgbClr val="6B7280"/>
                </a:solidFill>
                <a:latin typeface="Segoe UI"/>
              </a:defRPr>
            </a:pPr>
            <a:r>
              <a:rPr dirty="0"/>
              <a:t>Observed GTM is an informed inference from pricing pages, store traction, integrations, templates and ecosystem distribution.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Todoist, TickTick, Any.do and Microsoft To Do official pages + Google Play listings.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7899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 dirty="0"/>
              <a:t>What competitors do better - and where </a:t>
            </a:r>
            <a:r>
              <a:rPr dirty="0" err="1"/>
              <a:t>TaskFlow</a:t>
            </a:r>
            <a:r>
              <a:rPr dirty="0"/>
              <a:t> still has whitespace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2606040" cy="2103120"/>
          </a:xfrm>
          <a:prstGeom prst="roundRect">
            <a:avLst/>
          </a:prstGeom>
          <a:solidFill>
            <a:srgbClr val="E8F0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73152" cy="2103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664208"/>
            <a:ext cx="24048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More complete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984248"/>
            <a:ext cx="238658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Todoist and TickTick cover capture, planning, reminders, comments, templates and advanced views inside one product.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1554480"/>
            <a:ext cx="2606040" cy="2103120"/>
          </a:xfrm>
          <a:prstGeom prst="roundRect">
            <a:avLst/>
          </a:prstGeom>
          <a:solidFill>
            <a:srgbClr val="FFF7D6"/>
          </a:solidFill>
          <a:ln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520440" y="1554480"/>
            <a:ext cx="73152" cy="210312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66744" y="1664208"/>
            <a:ext cx="24048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Deeper collaboration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6744" y="1984248"/>
            <a:ext cx="238658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Any.do teams, TickTick shared lists and Todoist workspaces all go beyond TaskFlow's cap of 3 collaborators and limited assignment model.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554480"/>
            <a:ext cx="2606040" cy="2103120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0" y="1554480"/>
            <a:ext cx="73152" cy="210312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47104" y="1664208"/>
            <a:ext cx="24048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Stronger distribution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984248"/>
            <a:ext cx="238658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Leaders lean on SEO, templates, ecosystems, app-store scale and integrations. TaskFlow depends too heavily on paid social.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81160" y="1554480"/>
            <a:ext cx="2240280" cy="2103120"/>
          </a:xfrm>
          <a:prstGeom prst="roundRect">
            <a:avLst/>
          </a:prstGeom>
          <a:solidFill>
            <a:srgbClr val="FEECEC"/>
          </a:solidFill>
          <a:ln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281160" y="1554480"/>
            <a:ext cx="73152" cy="210312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427464" y="1664208"/>
            <a:ext cx="20391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Fresher product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27464" y="1984248"/>
            <a:ext cx="202082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Competitors were updated in March 2026 or late February 2026. TaskFlow's last major launch was 8 months ago.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069080"/>
            <a:ext cx="10881360" cy="1325880"/>
          </a:xfrm>
          <a:prstGeom prst="roundRect">
            <a:avLst/>
          </a:prstGeom>
          <a:solidFill>
            <a:srgbClr val="E9F8EE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40080" y="4069080"/>
            <a:ext cx="73152" cy="132588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86384" y="4178808"/>
            <a:ext cx="106801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Whitespace to pursue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4498848"/>
            <a:ext cx="10661904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TaskFlow should not try to out-feature everyone. The most credible opening is a lightweight, calendar-first planner for solo professionals, freelancers and duos that is faster, cleaner, offline-capable and better for micro-collaboration.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Competitor public pages and store listings; case prompt review themes.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Strategic options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645920"/>
            <a:ext cx="3520440" cy="3566160"/>
          </a:xfrm>
          <a:prstGeom prst="roundRect">
            <a:avLst/>
          </a:prstGeom>
          <a:solidFill>
            <a:srgbClr val="E9F8EE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645920"/>
            <a:ext cx="73152" cy="356616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755648"/>
            <a:ext cx="33192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1. Core turnaround + sharper positioning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253220"/>
            <a:ext cx="3300984" cy="3035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Why it could work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Fixes the actual problem: retention, stale UX, weak collaboration and packaging.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endParaRPr dirty="0"/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Main risk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Still a crowded category. Requires focus and scope discipline.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endParaRPr dirty="0"/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Investment / impact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Medium investment, medium-high impact.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520440" cy="3566160"/>
          </a:xfrm>
          <a:prstGeom prst="roundRect">
            <a:avLst/>
          </a:prstGeom>
          <a:solidFill>
            <a:srgbClr val="E8F0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43400" y="1645920"/>
            <a:ext cx="73152" cy="3566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89704" y="1755648"/>
            <a:ext cx="33192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2. Pivot to AI-first planning assistant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2232702"/>
            <a:ext cx="3300984" cy="3035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Why it could work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Aligns with the fastest growth theme in productivity and could create stronger differentiation.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endParaRPr dirty="0"/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Main risk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High execution risk, AI cost and stronger incumbents.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endParaRPr dirty="0"/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Investment / impact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High investment, high but uncertain upside.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45920"/>
            <a:ext cx="3520440" cy="3566160"/>
          </a:xfrm>
          <a:prstGeom prst="roundRect">
            <a:avLst/>
          </a:prstGeom>
          <a:solidFill>
            <a:srgbClr val="FFF7D6"/>
          </a:solidFill>
          <a:ln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046720" y="1645920"/>
            <a:ext cx="73152" cy="356616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93024" y="1755648"/>
            <a:ext cx="3064448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 dirty="0"/>
              <a:t>3. Growth-first expansion to lower-cost segments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2" y="2232702"/>
            <a:ext cx="3300984" cy="3035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Why it could work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Can restore top-of-funnel volume and reduce headline CPI.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endParaRPr dirty="0"/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Main risk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Does not solve retention and may worsen monetization mix.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endParaRPr dirty="0"/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Investment / impact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Medium investment, low-medium impact.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486400"/>
            <a:ext cx="10927080" cy="658368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0080" y="5486400"/>
            <a:ext cx="73152" cy="658368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6384" y="5596128"/>
            <a:ext cx="107259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Why option 1 wins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5813540"/>
            <a:ext cx="1070762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It addresses the real problem fastest, fits the 12-person team, and preserves strategic flexibility if the product still underperforms after 2-3 quarters.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Own strategic evaluation based on task brief, market data and competitor benchmark.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935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Recommended strategy: narrow and modernize the core product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508760"/>
            <a:ext cx="2103120" cy="3474720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73152" cy="347472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618488"/>
            <a:ext cx="19019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Product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938528"/>
            <a:ext cx="1883664" cy="29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Ship offline mode.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Improve onboarding by use case.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Refresh UI.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Upgrade recurring tasks and calendar parity.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Expand collaboration from 3 to 5 users with comments + attachments.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1508760"/>
            <a:ext cx="2103120" cy="3474720"/>
          </a:xfrm>
          <a:prstGeom prst="roundRect">
            <a:avLst/>
          </a:prstGeom>
          <a:solidFill>
            <a:srgbClr val="E8F0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926080" y="1508760"/>
            <a:ext cx="73152" cy="3474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072384" y="1618488"/>
            <a:ext cx="19019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Positioning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2384" y="1938528"/>
            <a:ext cx="1883664" cy="29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Move from generic to-do app to: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calendar-first planner for young professionals, freelancers and duos.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That is narrower, more defensible and closer to current strengths.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12080" y="1508760"/>
            <a:ext cx="2103120" cy="3474720"/>
          </a:xfrm>
          <a:prstGeom prst="roundRect">
            <a:avLst/>
          </a:prstGeom>
          <a:solidFill>
            <a:srgbClr val="E9F8EE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212080" y="1508760"/>
            <a:ext cx="73152" cy="347472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58384" y="1618488"/>
            <a:ext cx="19019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Packaging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58384" y="1938528"/>
            <a:ext cx="1883664" cy="29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Keep pricing broadly stable.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Relax free limits so users can form a habit.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Test 14-day trial, annual-first CTA and win-back offers instead of a blanket price cut.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1508760"/>
            <a:ext cx="2103120" cy="3474720"/>
          </a:xfrm>
          <a:prstGeom prst="roundRect">
            <a:avLst/>
          </a:prstGeom>
          <a:solidFill>
            <a:srgbClr val="FFF7D6"/>
          </a:solidFill>
          <a:ln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498079" y="1508760"/>
            <a:ext cx="73152" cy="347472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644383" y="1618488"/>
            <a:ext cx="19019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Growth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44383" y="1938528"/>
            <a:ext cx="1883664" cy="29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Pause or cut underperforming paid social.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Rebuild ASO.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Launch templates, referral loops and creator partnerships in the productivity niche.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84080" y="1508760"/>
            <a:ext cx="1828800" cy="3474720"/>
          </a:xfrm>
          <a:prstGeom prst="roundRect">
            <a:avLst/>
          </a:prstGeom>
          <a:solidFill>
            <a:srgbClr val="FEECEC"/>
          </a:solidFill>
          <a:ln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784080" y="1508760"/>
            <a:ext cx="73152" cy="347472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930384" y="1618488"/>
            <a:ext cx="16276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Markets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30384" y="1938528"/>
            <a:ext cx="1609344" cy="29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Prioritize US, UK, Canada and Australia first.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Germany can be wave 2.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Do not chase cheap low-monetization volume before retention recovers.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303520"/>
            <a:ext cx="10972800" cy="384048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450" b="1">
                <a:solidFill>
                  <a:srgbClr val="1F2937"/>
                </a:solidFill>
                <a:latin typeface="Segoe UI"/>
              </a:defRPr>
            </a:pPr>
            <a:r>
              <a:t>This is a turnaround strategy with a lightweight AI layer, not a risky full pivot into a brand-new product.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Own recommendation based on brief, benchmark and market research.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12-month roadmap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2423160" cy="338328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73152" cy="338328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847088"/>
            <a:ext cx="22219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Q2 2026 | Stabilize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167128"/>
            <a:ext cx="2203704" cy="2852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Cut inefficient paid UA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Offline mode MVP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Onboarding by use case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Design refresh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Review-response program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93008" y="1737360"/>
            <a:ext cx="2423160" cy="338328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93008" y="1737360"/>
            <a:ext cx="73152" cy="3383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39312" y="1847088"/>
            <a:ext cx="22219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Q3 2026 | Differentiate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9312" y="2167128"/>
            <a:ext cx="2203704" cy="2852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Collaboration 2.0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Web + calendar parity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Recurring task improvements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Free tier / trial experiments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45936" y="1737360"/>
            <a:ext cx="2423160" cy="338328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45936" y="1737360"/>
            <a:ext cx="73152" cy="338328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92240" y="1847088"/>
            <a:ext cx="22219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Q4 2026 | Add AI selectively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167128"/>
            <a:ext cx="2203704" cy="2852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AI smart scheduling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Natural-language capture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Weekly planning summary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ASO + SEO landing pages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98863" y="1737360"/>
            <a:ext cx="2423160" cy="338328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198863" y="1737360"/>
            <a:ext cx="73152" cy="338328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45167" y="1847088"/>
            <a:ext cx="22219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Q1 2027 | Scale winners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45167" y="2167128"/>
            <a:ext cx="2203704" cy="2852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Increase spend only on positive-payback channels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Referral / ambassador engine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Wave-2 localization if KPIs hold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669280"/>
            <a:ext cx="10972800" cy="347472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50" b="1">
                <a:solidFill>
                  <a:srgbClr val="C2410C"/>
                </a:solidFill>
                <a:latin typeface="Segoe UI"/>
              </a:defRPr>
            </a:pPr>
            <a:r>
              <a:t>Decision gate: if D30 retention is still below 7% after Q3 2026, revisit a larger pivot instead of scaling spend.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Own roadmap recommendation.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What success should look like after 12 months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13232" y="1572768"/>
            <a:ext cx="5669280" cy="4041648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41248" y="1810512"/>
            <a:ext cx="2286000" cy="420624"/>
          </a:xfrm>
          <a:prstGeom prst="rect">
            <a:avLst/>
          </a:prstGeom>
          <a:solidFill>
            <a:srgbClr val="F26B3A"/>
          </a:solidFill>
          <a:ln>
            <a:solidFill>
              <a:srgbClr val="FFFD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96112" y="1847088"/>
            <a:ext cx="2212848" cy="256032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050" b="1">
                <a:solidFill>
                  <a:srgbClr val="FFFDFC"/>
                </a:solidFill>
                <a:latin typeface="Segoe UI"/>
              </a:defRPr>
            </a:pPr>
            <a:r>
              <a:t>Metric</a:t>
            </a:r>
          </a:p>
        </p:txBody>
      </p:sp>
      <p:sp>
        <p:nvSpPr>
          <p:cNvPr id="7" name="Rectangle 6"/>
          <p:cNvSpPr/>
          <p:nvPr/>
        </p:nvSpPr>
        <p:spPr>
          <a:xfrm>
            <a:off x="3127248" y="1810512"/>
            <a:ext cx="1463040" cy="420624"/>
          </a:xfrm>
          <a:prstGeom prst="rect">
            <a:avLst/>
          </a:prstGeom>
          <a:solidFill>
            <a:srgbClr val="F26B3A"/>
          </a:solidFill>
          <a:ln>
            <a:solidFill>
              <a:srgbClr val="FFFD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90288" y="1810512"/>
            <a:ext cx="1463040" cy="420624"/>
          </a:xfrm>
          <a:prstGeom prst="rect">
            <a:avLst/>
          </a:prstGeom>
          <a:solidFill>
            <a:srgbClr val="F26B3A"/>
          </a:solidFill>
          <a:ln>
            <a:solidFill>
              <a:srgbClr val="FFFD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45152" y="1847088"/>
            <a:ext cx="1389888" cy="256032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050" b="1">
                <a:solidFill>
                  <a:srgbClr val="FFFDFC"/>
                </a:solidFill>
                <a:latin typeface="Segoe UI"/>
              </a:defRPr>
            </a:pPr>
            <a:r>
              <a:rPr dirty="0"/>
              <a:t>12M target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2231136"/>
            <a:ext cx="2286000" cy="457200"/>
          </a:xfrm>
          <a:prstGeom prst="rect">
            <a:avLst/>
          </a:prstGeom>
          <a:solidFill>
            <a:srgbClr val="FFF0E8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2304288"/>
            <a:ext cx="219456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1">
                <a:solidFill>
                  <a:srgbClr val="1F2937"/>
                </a:solidFill>
                <a:latin typeface="Segoe UI"/>
              </a:defRPr>
            </a:pPr>
            <a:r>
              <a:t>D30 retention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27248" y="2231136"/>
            <a:ext cx="1463040" cy="457200"/>
          </a:xfrm>
          <a:prstGeom prst="rect">
            <a:avLst/>
          </a:prstGeom>
          <a:solidFill>
            <a:srgbClr val="FFF0E8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00400" y="2304288"/>
            <a:ext cx="137160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2231136"/>
            <a:ext cx="1463040" cy="457200"/>
          </a:xfrm>
          <a:prstGeom prst="rect">
            <a:avLst/>
          </a:prstGeom>
          <a:solidFill>
            <a:srgbClr val="FFF0E8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63440" y="2304288"/>
            <a:ext cx="137160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8.0%-9.0%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" y="2688336"/>
            <a:ext cx="228600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2761488"/>
            <a:ext cx="219456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Paid churn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27248" y="2688336"/>
            <a:ext cx="146304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200400" y="2761488"/>
            <a:ext cx="137160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18%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90288" y="2688336"/>
            <a:ext cx="146304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663440" y="2761488"/>
            <a:ext cx="137160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11%-12%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8" y="3145536"/>
            <a:ext cx="228600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3218688"/>
            <a:ext cx="219456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Trial-to-paid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27248" y="3145536"/>
            <a:ext cx="146304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200400" y="3218688"/>
            <a:ext cx="137160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18%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90288" y="3145536"/>
            <a:ext cx="146304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663440" y="3218688"/>
            <a:ext cx="137160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24%-26%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1248" y="3602736"/>
            <a:ext cx="228600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4400" y="3675887"/>
            <a:ext cx="219456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Organic share of installs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27248" y="3602736"/>
            <a:ext cx="146304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200400" y="3675887"/>
            <a:ext cx="137160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90288" y="3602736"/>
            <a:ext cx="146304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663440" y="3675887"/>
            <a:ext cx="137160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25%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1248" y="4059935"/>
            <a:ext cx="228600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14400" y="4133087"/>
            <a:ext cx="219456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MAU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27248" y="4059935"/>
            <a:ext cx="146304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200400" y="4133087"/>
            <a:ext cx="137160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105k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90288" y="4059935"/>
            <a:ext cx="146304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663440" y="4133087"/>
            <a:ext cx="137160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120k-130k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1248" y="4517136"/>
            <a:ext cx="228600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14400" y="4590288"/>
            <a:ext cx="219456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MRR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27248" y="4517136"/>
            <a:ext cx="146304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200400" y="4590288"/>
            <a:ext cx="137160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90288" y="4517136"/>
            <a:ext cx="146304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663440" y="4590288"/>
            <a:ext cx="137160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$78k-$85k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812280" y="1737360"/>
            <a:ext cx="4617720" cy="1097280"/>
          </a:xfrm>
          <a:prstGeom prst="roundRect">
            <a:avLst/>
          </a:prstGeom>
          <a:solidFill>
            <a:srgbClr val="E8F0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6812280" y="1737360"/>
            <a:ext cx="73152" cy="1097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958584" y="1847088"/>
            <a:ext cx="4416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Why these targets matter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58584" y="2167128"/>
            <a:ext cx="43982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They focus on proving product value first, then monetization and efficient growth. MAU alone is not enough.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812280" y="3017520"/>
            <a:ext cx="4617720" cy="1097280"/>
          </a:xfrm>
          <a:prstGeom prst="roundRect">
            <a:avLst/>
          </a:prstGeom>
          <a:solidFill>
            <a:srgbClr val="E9F8EE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6812280" y="3017520"/>
            <a:ext cx="73152" cy="109728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958584" y="3127248"/>
            <a:ext cx="4416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Financial logic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58584" y="3447288"/>
            <a:ext cx="43982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If churn normalizes and organic share recovers, TaskFlow can grow MRR without going back to heavy, low-quality paid social.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812280" y="4297680"/>
            <a:ext cx="4617720" cy="1097280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6812280" y="4297680"/>
            <a:ext cx="73152" cy="109728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958584" y="4407408"/>
            <a:ext cx="4416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Operating rule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58584" y="4727448"/>
            <a:ext cx="43982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Do not scale any channel unless it shows positive payback under the new retention baseline.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Own KPI targets built from current baseline and recommended roadmap.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12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E81F99F-F0EF-413C-B314-83028A4BFC9E}"/>
              </a:ext>
            </a:extLst>
          </p:cNvPr>
          <p:cNvSpPr txBox="1"/>
          <p:nvPr/>
        </p:nvSpPr>
        <p:spPr>
          <a:xfrm>
            <a:off x="3108960" y="1839538"/>
            <a:ext cx="1517904" cy="420115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050" b="1">
                <a:solidFill>
                  <a:srgbClr val="FFFDFC"/>
                </a:solidFill>
                <a:latin typeface="Segoe UI"/>
              </a:defRPr>
            </a:pPr>
            <a:r>
              <a:rPr lang="en-US" dirty="0"/>
              <a:t>Baseline (Dec 2025)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Key risks and mitigations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5074920" cy="160020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73152" cy="160020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572768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Execution bandwidth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892808"/>
            <a:ext cx="4855464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Risk: A 12-person team cannot run five major bets at once.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Mitigation: Freeze non-core work and focus on 3 product bets max: offline, collaboration, onboarding.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463040"/>
            <a:ext cx="5074920" cy="160020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126480" y="1463040"/>
            <a:ext cx="73152" cy="160020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72784" y="1572768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Competitive response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2784" y="1892808"/>
            <a:ext cx="4855464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Risk: Leaders can copy surface features quickly.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Mitigation: Compete on a sharper use case and workflow simplicity, not feature count.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429000"/>
            <a:ext cx="5074920" cy="160020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" y="3429000"/>
            <a:ext cx="73152" cy="160020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6384" y="3538728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AI cost / hype risk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3858768"/>
            <a:ext cx="4855464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Risk: AI can burn time and cash without improving retention.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Mitigation: Add lightweight AI only after core workflow fixes land; use opt-in features first.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3429000"/>
            <a:ext cx="5074920" cy="160020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26480" y="3429000"/>
            <a:ext cx="73152" cy="160020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72784" y="3538728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Runway pressure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4" y="3858768"/>
            <a:ext cx="4855464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Risk: Burn is high relative to MRR.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Mitigation: Cut inefficient paid UA immediately and gate later spend behind retention milestones.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68980" y="5248656"/>
            <a:ext cx="5074920" cy="160020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268980" y="5248656"/>
            <a:ext cx="73152" cy="160020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415284" y="5358384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Geo distraction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15284" y="5678424"/>
            <a:ext cx="4855464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Risk: Cheap installs in low-value markets can create false confidence.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Mitigation: Prioritize high-ARPU English markets until the model stabilizes.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Own risk assessment.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Selected sources and submission note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481328"/>
            <a:ext cx="5074920" cy="425196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86384" y="1591056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Sources (titles)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1911096"/>
            <a:ext cx="4855464" cy="3721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1. Mordor Intelligence - Task Management Software Market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2. TechCrunch on Sensor Tower State of Mobile 2026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3. Gartner - mobile app usage to decrease 25% by 2027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4. Gartner - 40% of enterprise apps to feature AI agents by 2026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5. Todoist pricing update + Google Play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6. TickTick upgrade + Google Play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7. Any.do pricing/help/blog + Google Play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8. Microsoft To Do official page + Google Play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89320" y="1481328"/>
            <a:ext cx="5577840" cy="425196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35624" y="1591056"/>
            <a:ext cx="53766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Links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35624" y="1911096"/>
            <a:ext cx="5358384" cy="2192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>
                <a:hlinkClick r:id="rId2"/>
              </a:rPr>
              <a:t>https://www.mordorintelligence.com/industry-reports/task-management-software-market</a:t>
            </a:r>
            <a:r>
              <a:rPr lang="en-US" dirty="0"/>
              <a:t> </a:t>
            </a:r>
            <a:endParaRPr dirty="0"/>
          </a:p>
          <a:p>
            <a:pPr marL="171450" indent="-171450">
              <a:buFont typeface="Arial" panose="020B0604020202020204" pitchFamily="34" charset="0"/>
              <a:buChar char="•"/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>
                <a:hlinkClick r:id="rId3"/>
              </a:rPr>
              <a:t>https://techcrunch.com/2026/01/21/consumers-spent-more-on-mobile-apps-than-games-in-2025-driven-by-ai-app-adoption/</a:t>
            </a:r>
            <a:r>
              <a:rPr lang="en-US" dirty="0"/>
              <a:t> </a:t>
            </a:r>
            <a:endParaRPr dirty="0"/>
          </a:p>
          <a:p>
            <a:pPr marL="171450" indent="-171450">
              <a:buFont typeface="Arial" panose="020B0604020202020204" pitchFamily="34" charset="0"/>
              <a:buChar char="•"/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>
                <a:hlinkClick r:id="rId4"/>
              </a:rPr>
              <a:t>https://www.gartner.com/en/newsroom/press-releases/2025-01-15-gartner-predicts-mobile-app-usage-will-decrease-25-percent-due-to-ai-assistants-by-2027</a:t>
            </a:r>
            <a:r>
              <a:rPr lang="en-US" dirty="0"/>
              <a:t> </a:t>
            </a:r>
            <a:endParaRPr dirty="0"/>
          </a:p>
          <a:p>
            <a:pPr marL="171450" indent="-171450">
              <a:buFont typeface="Arial" panose="020B0604020202020204" pitchFamily="34" charset="0"/>
              <a:buChar char="•"/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>
                <a:hlinkClick r:id="rId5"/>
              </a:rPr>
              <a:t>https://www.gartner.com/en/newsroom/press-releases/2025-08-26-gartner-predicts-40-percent-of-enterprise-apps-will-feature-task-specific-ai-agents-by-2026-up-from-less-than-5-percent-in-2025</a:t>
            </a:r>
            <a:r>
              <a:rPr lang="en-US" dirty="0"/>
              <a:t> </a:t>
            </a:r>
            <a:endParaRPr dirty="0"/>
          </a:p>
          <a:p>
            <a:pPr marL="171450" indent="-171450">
              <a:buFont typeface="Arial" panose="020B0604020202020204" pitchFamily="34" charset="0"/>
              <a:buChar char="•"/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>
                <a:hlinkClick r:id="rId6"/>
              </a:rPr>
              <a:t>https://www.todoist.com/pricing</a:t>
            </a:r>
            <a:r>
              <a:rPr lang="en-US" dirty="0"/>
              <a:t> </a:t>
            </a:r>
            <a:endParaRPr dirty="0"/>
          </a:p>
          <a:p>
            <a:pPr marL="171450" indent="-171450">
              <a:buFont typeface="Arial" panose="020B0604020202020204" pitchFamily="34" charset="0"/>
              <a:buChar char="•"/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>
                <a:hlinkClick r:id="rId7"/>
              </a:rPr>
              <a:t>https://www.todoist.com/help/articles/todoist-pro-plan-pricing-update-bxBvHZuJZ</a:t>
            </a:r>
            <a:r>
              <a:rPr lang="en-US" dirty="0"/>
              <a:t> </a:t>
            </a:r>
            <a:endParaRPr dirty="0"/>
          </a:p>
          <a:p>
            <a:pPr marL="171450" indent="-171450">
              <a:buFont typeface="Arial" panose="020B0604020202020204" pitchFamily="34" charset="0"/>
              <a:buChar char="•"/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>
                <a:hlinkClick r:id="rId8"/>
              </a:rPr>
              <a:t>https://play.google.com/store/apps/details?id=com.todoist&amp;hl=en&amp;gl=US</a:t>
            </a:r>
            <a:r>
              <a:rPr lang="en-US" dirty="0"/>
              <a:t> </a:t>
            </a:r>
            <a:endParaRPr dirty="0"/>
          </a:p>
          <a:p>
            <a:pPr marL="171450" indent="-171450">
              <a:buFont typeface="Arial" panose="020B0604020202020204" pitchFamily="34" charset="0"/>
              <a:buChar char="•"/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>
                <a:hlinkClick r:id="rId9"/>
              </a:rPr>
              <a:t>https://ticktick.com/upgrade</a:t>
            </a:r>
            <a:r>
              <a:rPr lang="en-US" dirty="0"/>
              <a:t> </a:t>
            </a: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640080" y="5486400"/>
            <a:ext cx="10927080" cy="859536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5486400"/>
            <a:ext cx="73152" cy="68580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6383" y="5596128"/>
            <a:ext cx="141648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How to act</a:t>
            </a:r>
            <a:endParaRPr lang="en-US" dirty="0"/>
          </a:p>
          <a:p>
            <a:br>
              <a:rPr lang="en-US" dirty="0"/>
            </a:br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786384" y="5916168"/>
            <a:ext cx="1070762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lang="en-US" dirty="0" err="1"/>
              <a:t>TaskFlow</a:t>
            </a:r>
            <a:r>
              <a:rPr lang="en-US" dirty="0"/>
              <a:t> should stay in the productivity category, avoid a risky full pivot for now, and focus on restoring product value, 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lang="en-US" dirty="0"/>
              <a:t>sharper positioning, and more efficient growth.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endParaRPr lang="en-US" dirty="0"/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endParaRPr dirty="0"/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rPr dirty="0"/>
              <a:t>Sources: Full source log is also included in the workbook and sources.md.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2206</Words>
  <Application>Microsoft Office PowerPoint</Application>
  <PresentationFormat>Widescreen</PresentationFormat>
  <Paragraphs>284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Kolisnyk Oksana</dc:creator>
  <cp:keywords/>
  <dc:description>generated using python-pptx</dc:description>
  <cp:lastModifiedBy>Kolisnyk Oksana</cp:lastModifiedBy>
  <cp:revision>8</cp:revision>
  <dcterms:created xsi:type="dcterms:W3CDTF">2013-01-27T09:14:16Z</dcterms:created>
  <dcterms:modified xsi:type="dcterms:W3CDTF">2026-03-23T15:13:48Z</dcterms:modified>
  <cp:category/>
</cp:coreProperties>
</file>